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libri (MS) Bold" charset="1" panose="020F0702030404030204"/>
      <p:regular r:id="rId18"/>
    </p:embeddedFont>
    <p:embeddedFont>
      <p:font typeface="Cambria Bold" charset="1" panose="02040803050406030204"/>
      <p:regular r:id="rId19"/>
    </p:embeddedFont>
    <p:embeddedFont>
      <p:font typeface="Calibri (MS)" charset="1" panose="020F0502020204030204"/>
      <p:regular r:id="rId20"/>
    </p:embeddedFont>
    <p:embeddedFont>
      <p:font typeface="Fira Sans Medium" charset="1" panose="020B0603050000020004"/>
      <p:regular r:id="rId21"/>
    </p:embeddedFont>
    <p:embeddedFont>
      <p:font typeface="Calibri (MS) Italics" charset="1" panose="020F05020202040A0204"/>
      <p:regular r:id="rId23"/>
    </p:embeddedFont>
    <p:embeddedFont>
      <p:font typeface="Calibri (MS) Bold Italics" charset="1" panose="020F07020304040A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‹#›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10579" y="267633"/>
            <a:ext cx="2044798" cy="2070897"/>
            <a:chOff x="0" y="0"/>
            <a:chExt cx="2726398" cy="27611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26436" cy="2761234"/>
            </a:xfrm>
            <a:custGeom>
              <a:avLst/>
              <a:gdLst/>
              <a:ahLst/>
              <a:cxnLst/>
              <a:rect r="r" b="b" t="t" l="l"/>
              <a:pathLst>
                <a:path h="2761234" w="2726436">
                  <a:moveTo>
                    <a:pt x="0" y="1380617"/>
                  </a:moveTo>
                  <a:cubicBezTo>
                    <a:pt x="0" y="618109"/>
                    <a:pt x="610362" y="0"/>
                    <a:pt x="1363218" y="0"/>
                  </a:cubicBezTo>
                  <a:cubicBezTo>
                    <a:pt x="2116074" y="0"/>
                    <a:pt x="2726436" y="618109"/>
                    <a:pt x="2726436" y="1380617"/>
                  </a:cubicBezTo>
                  <a:cubicBezTo>
                    <a:pt x="2726436" y="2143125"/>
                    <a:pt x="2116074" y="2761234"/>
                    <a:pt x="1363218" y="2761234"/>
                  </a:cubicBezTo>
                  <a:cubicBezTo>
                    <a:pt x="610362" y="2761234"/>
                    <a:pt x="0" y="2143125"/>
                    <a:pt x="0" y="1380617"/>
                  </a:cubicBezTo>
                  <a:close/>
                </a:path>
              </a:pathLst>
            </a:custGeom>
            <a:solidFill>
              <a:srgbClr val="1B2566">
                <a:alpha val="43922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850392"/>
            <a:ext cx="13167360" cy="480060"/>
            <a:chOff x="0" y="0"/>
            <a:chExt cx="17556480" cy="6400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556480" cy="640080"/>
            </a:xfrm>
            <a:custGeom>
              <a:avLst/>
              <a:gdLst/>
              <a:ahLst/>
              <a:cxnLst/>
              <a:rect r="r" b="b" t="t" l="l"/>
              <a:pathLst>
                <a:path h="640080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84446" r="0" b="-4844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755648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>
                  <a:solidFill>
                    <a:srgbClr val="D6A6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INDIA HACKATHON   ·   INTERNAL HACKATHON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424786" y="794918"/>
            <a:ext cx="1016327" cy="1016327"/>
            <a:chOff x="0" y="0"/>
            <a:chExt cx="1355103" cy="13551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55090" cy="1355090"/>
            </a:xfrm>
            <a:custGeom>
              <a:avLst/>
              <a:gdLst/>
              <a:ahLst/>
              <a:cxnLst/>
              <a:rect r="r" b="b" t="t" l="l"/>
              <a:pathLst>
                <a:path h="1355090" w="1355090">
                  <a:moveTo>
                    <a:pt x="0" y="677545"/>
                  </a:moveTo>
                  <a:cubicBezTo>
                    <a:pt x="0" y="303403"/>
                    <a:pt x="303403" y="0"/>
                    <a:pt x="677545" y="0"/>
                  </a:cubicBezTo>
                  <a:cubicBezTo>
                    <a:pt x="1051687" y="0"/>
                    <a:pt x="1355090" y="303403"/>
                    <a:pt x="1355090" y="677545"/>
                  </a:cubicBezTo>
                  <a:cubicBezTo>
                    <a:pt x="1355090" y="1051687"/>
                    <a:pt x="1051814" y="1355090"/>
                    <a:pt x="677545" y="1355090"/>
                  </a:cubicBezTo>
                  <a:cubicBezTo>
                    <a:pt x="303276" y="1355090"/>
                    <a:pt x="0" y="1051814"/>
                    <a:pt x="0" y="677545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6562632" y="932745"/>
            <a:ext cx="740664" cy="740664"/>
            <a:chOff x="0" y="0"/>
            <a:chExt cx="987552" cy="987552"/>
          </a:xfrm>
        </p:grpSpPr>
        <p:sp>
          <p:nvSpPr>
            <p:cNvPr name="Freeform 11" id="11" descr="/home/claude/work/iitm_bs_logo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43183" y="-12775"/>
            <a:ext cx="15910646" cy="6060607"/>
            <a:chOff x="0" y="0"/>
            <a:chExt cx="21214194" cy="80808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214200" cy="8080811"/>
            </a:xfrm>
            <a:custGeom>
              <a:avLst/>
              <a:gdLst/>
              <a:ahLst/>
              <a:cxnLst/>
              <a:rect r="r" b="b" t="t" l="l"/>
              <a:pathLst>
                <a:path h="8080811" w="21214200">
                  <a:moveTo>
                    <a:pt x="0" y="0"/>
                  </a:moveTo>
                  <a:lnTo>
                    <a:pt x="21214200" y="0"/>
                  </a:lnTo>
                  <a:lnTo>
                    <a:pt x="21214200" y="8080811"/>
                  </a:lnTo>
                  <a:lnTo>
                    <a:pt x="0" y="808081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273" r="0" b="3696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1214194" cy="80903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40"/>
                </a:lnSpc>
              </a:pPr>
              <a:r>
                <a:rPr lang="en-US" b="true" sz="395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Multi-modal, Sun angle and scale invariant image correspondence using Chandrayaan-2 optical images (OHRC, TMC and IIRS) 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15816" y="5410676"/>
            <a:ext cx="7626668" cy="1001840"/>
            <a:chOff x="0" y="0"/>
            <a:chExt cx="10168890" cy="13357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68889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89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10038969" y="0"/>
                  </a:lnTo>
                  <a:cubicBezTo>
                    <a:pt x="10110724" y="0"/>
                    <a:pt x="10168889" y="58166"/>
                    <a:pt x="10168889" y="129921"/>
                  </a:cubicBezTo>
                  <a:lnTo>
                    <a:pt x="10168889" y="1205865"/>
                  </a:lnTo>
                  <a:cubicBezTo>
                    <a:pt x="10168889" y="1277620"/>
                    <a:pt x="10110724" y="1335786"/>
                    <a:pt x="10038969" y="1335786"/>
                  </a:cubicBezTo>
                  <a:lnTo>
                    <a:pt x="129921" y="1335786"/>
                  </a:lnTo>
                  <a:cubicBezTo>
                    <a:pt x="58166" y="1335786"/>
                    <a:pt x="0" y="1277620"/>
                    <a:pt x="0" y="1205865"/>
                  </a:cubicBezTo>
                  <a:close/>
                </a:path>
              </a:pathLst>
            </a:custGeom>
            <a:solidFill>
              <a:srgbClr val="232D6E"/>
            </a:solidFill>
            <a:ln w="14288" cap="sq">
              <a:solidFill>
                <a:srgbClr val="37417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124712" y="5541264"/>
            <a:ext cx="7008876" cy="301752"/>
            <a:chOff x="0" y="0"/>
            <a:chExt cx="9345168" cy="4023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45168" cy="402336"/>
            </a:xfrm>
            <a:custGeom>
              <a:avLst/>
              <a:gdLst/>
              <a:ahLst/>
              <a:cxnLst/>
              <a:rect r="r" b="b" t="t" l="l"/>
              <a:pathLst>
                <a:path h="402336" w="9345168">
                  <a:moveTo>
                    <a:pt x="0" y="0"/>
                  </a:moveTo>
                  <a:lnTo>
                    <a:pt x="9345168" y="0"/>
                  </a:lnTo>
                  <a:lnTo>
                    <a:pt x="93451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2584" r="0" b="-4025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9345168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>
                  <a:solidFill>
                    <a:srgbClr val="D6A6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ID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24712" y="5856732"/>
            <a:ext cx="7008876" cy="480060"/>
            <a:chOff x="0" y="0"/>
            <a:chExt cx="9345168" cy="6400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45168" cy="640080"/>
            </a:xfrm>
            <a:custGeom>
              <a:avLst/>
              <a:gdLst/>
              <a:ahLst/>
              <a:cxnLst/>
              <a:rect r="r" b="b" t="t" l="l"/>
              <a:pathLst>
                <a:path h="640080" w="9345168">
                  <a:moveTo>
                    <a:pt x="0" y="0"/>
                  </a:moveTo>
                  <a:lnTo>
                    <a:pt x="9345168" y="0"/>
                  </a:lnTo>
                  <a:lnTo>
                    <a:pt x="9345168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345168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SIH26166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839676" y="5410676"/>
            <a:ext cx="7626668" cy="1001840"/>
            <a:chOff x="0" y="0"/>
            <a:chExt cx="10168890" cy="13357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68889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89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10038969" y="0"/>
                  </a:lnTo>
                  <a:cubicBezTo>
                    <a:pt x="10110724" y="0"/>
                    <a:pt x="10168889" y="58166"/>
                    <a:pt x="10168889" y="129921"/>
                  </a:cubicBezTo>
                  <a:lnTo>
                    <a:pt x="10168889" y="1205865"/>
                  </a:lnTo>
                  <a:cubicBezTo>
                    <a:pt x="10168889" y="1277620"/>
                    <a:pt x="10110724" y="1335786"/>
                    <a:pt x="10038969" y="1335786"/>
                  </a:cubicBezTo>
                  <a:lnTo>
                    <a:pt x="129921" y="1335786"/>
                  </a:lnTo>
                  <a:cubicBezTo>
                    <a:pt x="58166" y="1335786"/>
                    <a:pt x="0" y="1277620"/>
                    <a:pt x="0" y="1205865"/>
                  </a:cubicBezTo>
                  <a:close/>
                </a:path>
              </a:pathLst>
            </a:custGeom>
            <a:solidFill>
              <a:srgbClr val="232D6E"/>
            </a:solidFill>
            <a:ln w="14288" cap="sq">
              <a:solidFill>
                <a:srgbClr val="37417F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148572" y="5541264"/>
            <a:ext cx="7008876" cy="301752"/>
            <a:chOff x="0" y="0"/>
            <a:chExt cx="9345168" cy="402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345168" cy="402336"/>
            </a:xfrm>
            <a:custGeom>
              <a:avLst/>
              <a:gdLst/>
              <a:ahLst/>
              <a:cxnLst/>
              <a:rect r="r" b="b" t="t" l="l"/>
              <a:pathLst>
                <a:path h="402336" w="9345168">
                  <a:moveTo>
                    <a:pt x="0" y="0"/>
                  </a:moveTo>
                  <a:lnTo>
                    <a:pt x="9345168" y="0"/>
                  </a:lnTo>
                  <a:lnTo>
                    <a:pt x="93451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2584" r="0" b="-40258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345168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>
                  <a:solidFill>
                    <a:srgbClr val="D6A6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THEME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8572" y="5856732"/>
            <a:ext cx="7075551" cy="480060"/>
            <a:chOff x="0" y="0"/>
            <a:chExt cx="9434068" cy="6400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34068" cy="640080"/>
            </a:xfrm>
            <a:custGeom>
              <a:avLst/>
              <a:gdLst/>
              <a:ahLst/>
              <a:cxnLst/>
              <a:rect r="r" b="b" t="t" l="l"/>
              <a:pathLst>
                <a:path h="640080" w="9434068">
                  <a:moveTo>
                    <a:pt x="0" y="0"/>
                  </a:moveTo>
                  <a:lnTo>
                    <a:pt x="9434068" y="0"/>
                  </a:lnTo>
                  <a:lnTo>
                    <a:pt x="9434068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481" r="942" b="-23448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434068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Space</a:t>
              </a: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Technology (Indian Space Research Organisation, ISRO)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15816" y="6617684"/>
            <a:ext cx="7626668" cy="1001840"/>
            <a:chOff x="0" y="0"/>
            <a:chExt cx="10168890" cy="133578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168889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89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10038969" y="0"/>
                  </a:lnTo>
                  <a:cubicBezTo>
                    <a:pt x="10110724" y="0"/>
                    <a:pt x="10168889" y="58166"/>
                    <a:pt x="10168889" y="129921"/>
                  </a:cubicBezTo>
                  <a:lnTo>
                    <a:pt x="10168889" y="1205865"/>
                  </a:lnTo>
                  <a:cubicBezTo>
                    <a:pt x="10168889" y="1277620"/>
                    <a:pt x="10110724" y="1335786"/>
                    <a:pt x="10038969" y="1335786"/>
                  </a:cubicBezTo>
                  <a:lnTo>
                    <a:pt x="129921" y="1335786"/>
                  </a:lnTo>
                  <a:cubicBezTo>
                    <a:pt x="58166" y="1335786"/>
                    <a:pt x="0" y="1277620"/>
                    <a:pt x="0" y="1205865"/>
                  </a:cubicBezTo>
                  <a:close/>
                </a:path>
              </a:pathLst>
            </a:custGeom>
            <a:solidFill>
              <a:srgbClr val="232D6E"/>
            </a:solidFill>
            <a:ln w="14288" cap="sq">
              <a:solidFill>
                <a:srgbClr val="37417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124712" y="7063740"/>
            <a:ext cx="7008876" cy="480060"/>
            <a:chOff x="0" y="0"/>
            <a:chExt cx="9345168" cy="640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345168" cy="640080"/>
            </a:xfrm>
            <a:custGeom>
              <a:avLst/>
              <a:gdLst/>
              <a:ahLst/>
              <a:cxnLst/>
              <a:rect r="r" b="b" t="t" l="l"/>
              <a:pathLst>
                <a:path h="640080" w="9345168">
                  <a:moveTo>
                    <a:pt x="0" y="0"/>
                  </a:moveTo>
                  <a:lnTo>
                    <a:pt x="9345168" y="0"/>
                  </a:lnTo>
                  <a:lnTo>
                    <a:pt x="9345168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9345168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Software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839676" y="6617684"/>
            <a:ext cx="7626668" cy="1001840"/>
            <a:chOff x="0" y="0"/>
            <a:chExt cx="10168890" cy="133578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168889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89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10038969" y="0"/>
                  </a:lnTo>
                  <a:cubicBezTo>
                    <a:pt x="10110724" y="0"/>
                    <a:pt x="10168889" y="58166"/>
                    <a:pt x="10168889" y="129921"/>
                  </a:cubicBezTo>
                  <a:lnTo>
                    <a:pt x="10168889" y="1205865"/>
                  </a:lnTo>
                  <a:cubicBezTo>
                    <a:pt x="10168889" y="1277620"/>
                    <a:pt x="10110724" y="1335786"/>
                    <a:pt x="10038969" y="1335786"/>
                  </a:cubicBezTo>
                  <a:lnTo>
                    <a:pt x="129921" y="1335786"/>
                  </a:lnTo>
                  <a:cubicBezTo>
                    <a:pt x="58166" y="1335786"/>
                    <a:pt x="0" y="1277620"/>
                    <a:pt x="0" y="1205865"/>
                  </a:cubicBezTo>
                  <a:close/>
                </a:path>
              </a:pathLst>
            </a:custGeom>
            <a:solidFill>
              <a:srgbClr val="232D6E"/>
            </a:solidFill>
            <a:ln w="14288" cap="sq">
              <a:solidFill>
                <a:srgbClr val="37417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9148572" y="6748272"/>
            <a:ext cx="7008876" cy="301752"/>
            <a:chOff x="0" y="0"/>
            <a:chExt cx="9345168" cy="402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345168" cy="402336"/>
            </a:xfrm>
            <a:custGeom>
              <a:avLst/>
              <a:gdLst/>
              <a:ahLst/>
              <a:cxnLst/>
              <a:rect r="r" b="b" t="t" l="l"/>
              <a:pathLst>
                <a:path h="402336" w="9345168">
                  <a:moveTo>
                    <a:pt x="0" y="0"/>
                  </a:moveTo>
                  <a:lnTo>
                    <a:pt x="9345168" y="0"/>
                  </a:lnTo>
                  <a:lnTo>
                    <a:pt x="93451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2584" r="0" b="-40258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345168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>
                  <a:solidFill>
                    <a:srgbClr val="D6A6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NAME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148572" y="7063740"/>
            <a:ext cx="7008876" cy="480060"/>
            <a:chOff x="0" y="0"/>
            <a:chExt cx="9345168" cy="6400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345168" cy="640080"/>
            </a:xfrm>
            <a:custGeom>
              <a:avLst/>
              <a:gdLst/>
              <a:ahLst/>
              <a:cxnLst/>
              <a:rect r="r" b="b" t="t" l="l"/>
              <a:pathLst>
                <a:path h="640080" w="9345168">
                  <a:moveTo>
                    <a:pt x="0" y="0"/>
                  </a:moveTo>
                  <a:lnTo>
                    <a:pt x="9345168" y="0"/>
                  </a:lnTo>
                  <a:lnTo>
                    <a:pt x="9345168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345168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Alibaba and 6 devs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15816" y="7824692"/>
            <a:ext cx="7626668" cy="1001840"/>
            <a:chOff x="0" y="0"/>
            <a:chExt cx="10168890" cy="133578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168889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89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10038969" y="0"/>
                  </a:lnTo>
                  <a:cubicBezTo>
                    <a:pt x="10110724" y="0"/>
                    <a:pt x="10168889" y="58166"/>
                    <a:pt x="10168889" y="129921"/>
                  </a:cubicBezTo>
                  <a:lnTo>
                    <a:pt x="10168889" y="1205865"/>
                  </a:lnTo>
                  <a:cubicBezTo>
                    <a:pt x="10168889" y="1277620"/>
                    <a:pt x="10110724" y="1335786"/>
                    <a:pt x="10038969" y="1335786"/>
                  </a:cubicBezTo>
                  <a:lnTo>
                    <a:pt x="129921" y="1335786"/>
                  </a:lnTo>
                  <a:cubicBezTo>
                    <a:pt x="58166" y="1335786"/>
                    <a:pt x="0" y="1277620"/>
                    <a:pt x="0" y="1205865"/>
                  </a:cubicBezTo>
                  <a:close/>
                </a:path>
              </a:pathLst>
            </a:custGeom>
            <a:solidFill>
              <a:srgbClr val="232D6E"/>
            </a:solidFill>
            <a:ln w="14288" cap="sq">
              <a:solidFill>
                <a:srgbClr val="37417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124712" y="7955280"/>
            <a:ext cx="7008876" cy="301752"/>
            <a:chOff x="0" y="0"/>
            <a:chExt cx="9345168" cy="4023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345168" cy="402336"/>
            </a:xfrm>
            <a:custGeom>
              <a:avLst/>
              <a:gdLst/>
              <a:ahLst/>
              <a:cxnLst/>
              <a:rect r="r" b="b" t="t" l="l"/>
              <a:pathLst>
                <a:path h="402336" w="9345168">
                  <a:moveTo>
                    <a:pt x="0" y="0"/>
                  </a:moveTo>
                  <a:lnTo>
                    <a:pt x="9345168" y="0"/>
                  </a:lnTo>
                  <a:lnTo>
                    <a:pt x="93451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2584" r="0" b="-40258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345168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>
                  <a:solidFill>
                    <a:srgbClr val="D6A6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LEADER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24712" y="8270748"/>
            <a:ext cx="7008876" cy="480060"/>
            <a:chOff x="0" y="0"/>
            <a:chExt cx="9345168" cy="6400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345168" cy="640080"/>
            </a:xfrm>
            <a:custGeom>
              <a:avLst/>
              <a:gdLst/>
              <a:ahLst/>
              <a:cxnLst/>
              <a:rect r="r" b="b" t="t" l="l"/>
              <a:pathLst>
                <a:path h="640080" w="9345168">
                  <a:moveTo>
                    <a:pt x="0" y="0"/>
                  </a:moveTo>
                  <a:lnTo>
                    <a:pt x="9345168" y="0"/>
                  </a:lnTo>
                  <a:lnTo>
                    <a:pt x="9345168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9345168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Mohit Tewari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8839676" y="7824692"/>
            <a:ext cx="7626668" cy="1001840"/>
            <a:chOff x="0" y="0"/>
            <a:chExt cx="10168890" cy="133578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168889" cy="1335786"/>
            </a:xfrm>
            <a:custGeom>
              <a:avLst/>
              <a:gdLst/>
              <a:ahLst/>
              <a:cxnLst/>
              <a:rect r="r" b="b" t="t" l="l"/>
              <a:pathLst>
                <a:path h="1335786" w="10168889">
                  <a:moveTo>
                    <a:pt x="0" y="129921"/>
                  </a:moveTo>
                  <a:cubicBezTo>
                    <a:pt x="0" y="58166"/>
                    <a:pt x="58166" y="0"/>
                    <a:pt x="129921" y="0"/>
                  </a:cubicBezTo>
                  <a:lnTo>
                    <a:pt x="10038969" y="0"/>
                  </a:lnTo>
                  <a:cubicBezTo>
                    <a:pt x="10110724" y="0"/>
                    <a:pt x="10168889" y="58166"/>
                    <a:pt x="10168889" y="129921"/>
                  </a:cubicBezTo>
                  <a:lnTo>
                    <a:pt x="10168889" y="1205865"/>
                  </a:lnTo>
                  <a:cubicBezTo>
                    <a:pt x="10168889" y="1277620"/>
                    <a:pt x="10110724" y="1335786"/>
                    <a:pt x="10038969" y="1335786"/>
                  </a:cubicBezTo>
                  <a:lnTo>
                    <a:pt x="129921" y="1335786"/>
                  </a:lnTo>
                  <a:cubicBezTo>
                    <a:pt x="58166" y="1335786"/>
                    <a:pt x="0" y="1277620"/>
                    <a:pt x="0" y="1205865"/>
                  </a:cubicBezTo>
                  <a:close/>
                </a:path>
              </a:pathLst>
            </a:custGeom>
            <a:solidFill>
              <a:srgbClr val="232D6E"/>
            </a:solidFill>
            <a:ln w="14288" cap="sq">
              <a:solidFill>
                <a:srgbClr val="37417F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148572" y="7955280"/>
            <a:ext cx="7008876" cy="301752"/>
            <a:chOff x="0" y="0"/>
            <a:chExt cx="9345168" cy="4023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345168" cy="402336"/>
            </a:xfrm>
            <a:custGeom>
              <a:avLst/>
              <a:gdLst/>
              <a:ahLst/>
              <a:cxnLst/>
              <a:rect r="r" b="b" t="t" l="l"/>
              <a:pathLst>
                <a:path h="402336" w="9345168">
                  <a:moveTo>
                    <a:pt x="0" y="0"/>
                  </a:moveTo>
                  <a:lnTo>
                    <a:pt x="9345168" y="0"/>
                  </a:lnTo>
                  <a:lnTo>
                    <a:pt x="93451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2584" r="0" b="-40258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9345168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>
                  <a:solidFill>
                    <a:srgbClr val="D6A6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INSTITUTE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148572" y="8270748"/>
            <a:ext cx="7008876" cy="480060"/>
            <a:chOff x="0" y="0"/>
            <a:chExt cx="9345168" cy="640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345168" cy="640080"/>
            </a:xfrm>
            <a:custGeom>
              <a:avLst/>
              <a:gdLst/>
              <a:ahLst/>
              <a:cxnLst/>
              <a:rect r="r" b="b" t="t" l="l"/>
              <a:pathLst>
                <a:path h="640080" w="9345168">
                  <a:moveTo>
                    <a:pt x="0" y="0"/>
                  </a:moveTo>
                  <a:lnTo>
                    <a:pt x="9345168" y="0"/>
                  </a:lnTo>
                  <a:lnTo>
                    <a:pt x="9345168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4481" r="0" b="-234481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9345168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IIT Madras BS Degree Programme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3960">
            <a:off x="813425" y="9404414"/>
            <a:ext cx="16656568" cy="0"/>
          </a:xfrm>
          <a:prstGeom prst="line">
            <a:avLst/>
          </a:prstGeom>
          <a:ln cap="rnd" w="9525">
            <a:solidFill>
              <a:srgbClr val="2C346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822960" y="9573768"/>
            <a:ext cx="15087600" cy="438912"/>
            <a:chOff x="0" y="0"/>
            <a:chExt cx="20116800" cy="58521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0116800" cy="585216"/>
            </a:xfrm>
            <a:custGeom>
              <a:avLst/>
              <a:gdLst/>
              <a:ahLst/>
              <a:cxnLst/>
              <a:rect r="r" b="b" t="t" l="l"/>
              <a:pathLst>
                <a:path h="585216" w="20116800">
                  <a:moveTo>
                    <a:pt x="0" y="0"/>
                  </a:moveTo>
                  <a:lnTo>
                    <a:pt x="20116800" y="0"/>
                  </a:lnTo>
                  <a:lnTo>
                    <a:pt x="20116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19798" r="0" b="-619798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201168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D6A6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IITM BS Degree Programme</a:t>
              </a:r>
              <a:r>
                <a:rPr lang="en-US" sz="1500">
                  <a:solidFill>
                    <a:srgbClr val="CBD8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·   Presentation, Round 3 SIH Internal Hackathon</a:t>
              </a:r>
            </a:p>
          </p:txBody>
        </p:sp>
      </p:grpSp>
      <p:sp>
        <p:nvSpPr>
          <p:cNvPr name="Freeform 64" id="64"/>
          <p:cNvSpPr/>
          <p:nvPr/>
        </p:nvSpPr>
        <p:spPr>
          <a:xfrm flipH="true" flipV="false" rot="0">
            <a:off x="7422722" y="1028700"/>
            <a:ext cx="1725850" cy="1406568"/>
          </a:xfrm>
          <a:custGeom>
            <a:avLst/>
            <a:gdLst/>
            <a:ahLst/>
            <a:cxnLst/>
            <a:rect r="r" b="b" t="t" l="l"/>
            <a:pathLst>
              <a:path h="1406568" w="1725850">
                <a:moveTo>
                  <a:pt x="1725850" y="0"/>
                </a:moveTo>
                <a:lnTo>
                  <a:pt x="0" y="0"/>
                </a:lnTo>
                <a:lnTo>
                  <a:pt x="0" y="1406568"/>
                </a:lnTo>
                <a:lnTo>
                  <a:pt x="1725850" y="1406568"/>
                </a:lnTo>
                <a:lnTo>
                  <a:pt x="1725850" y="0"/>
                </a:lnTo>
                <a:close/>
              </a:path>
            </a:pathLst>
          </a:custGeom>
          <a:blipFill>
            <a:blip r:embed="rId6">
              <a:alphaModFix amt="29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743183" y="3761047"/>
            <a:ext cx="1423756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2"/>
              </a:lnSpc>
              <a:spcBef>
                <a:spcPct val="0"/>
              </a:spcBef>
            </a:pPr>
            <a:r>
              <a:rPr lang="en-US" b="true" sz="2018">
                <a:solidFill>
                  <a:srgbClr val="A6A6A6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A physics-guided, uncertainty-aware framework for registering ISRO's lunar imagery across sensors, illumination and scale</a:t>
            </a:r>
          </a:p>
        </p:txBody>
      </p:sp>
      <p:sp>
        <p:nvSpPr>
          <p:cNvPr name="Freeform 66" id="66"/>
          <p:cNvSpPr/>
          <p:nvPr/>
        </p:nvSpPr>
        <p:spPr>
          <a:xfrm flipH="false" flipV="false" rot="0">
            <a:off x="9248634" y="1185122"/>
            <a:ext cx="8192479" cy="8233647"/>
          </a:xfrm>
          <a:custGeom>
            <a:avLst/>
            <a:gdLst/>
            <a:ahLst/>
            <a:cxnLst/>
            <a:rect r="r" b="b" t="t" l="l"/>
            <a:pathLst>
              <a:path h="8233647" w="8192479">
                <a:moveTo>
                  <a:pt x="0" y="0"/>
                </a:moveTo>
                <a:lnTo>
                  <a:pt x="8192479" y="0"/>
                </a:lnTo>
                <a:lnTo>
                  <a:pt x="8192479" y="8233647"/>
                </a:lnTo>
                <a:lnTo>
                  <a:pt x="0" y="82336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8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124712" y="6748272"/>
            <a:ext cx="7008876" cy="301752"/>
            <a:chOff x="0" y="0"/>
            <a:chExt cx="9345168" cy="402336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345168" cy="402336"/>
            </a:xfrm>
            <a:custGeom>
              <a:avLst/>
              <a:gdLst/>
              <a:ahLst/>
              <a:cxnLst/>
              <a:rect r="r" b="b" t="t" l="l"/>
              <a:pathLst>
                <a:path h="402336" w="9345168">
                  <a:moveTo>
                    <a:pt x="0" y="0"/>
                  </a:moveTo>
                  <a:lnTo>
                    <a:pt x="9345168" y="0"/>
                  </a:lnTo>
                  <a:lnTo>
                    <a:pt x="93451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02584" r="0" b="-402584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9345168" cy="4404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b="true" sz="1425">
                  <a:solidFill>
                    <a:srgbClr val="D6A6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CATEGORY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1054" y="619030"/>
            <a:ext cx="572452" cy="572452"/>
            <a:chOff x="0" y="0"/>
            <a:chExt cx="763270" cy="763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3270" cy="763270"/>
            </a:xfrm>
            <a:custGeom>
              <a:avLst/>
              <a:gdLst/>
              <a:ahLst/>
              <a:cxnLst/>
              <a:rect r="r" b="b" t="t" l="l"/>
              <a:pathLst>
                <a:path h="763270" w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30936"/>
            <a:ext cx="548640" cy="548640"/>
            <a:chOff x="0" y="0"/>
            <a:chExt cx="7315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77340" y="603504"/>
            <a:ext cx="8229600" cy="356616"/>
            <a:chOff x="0" y="0"/>
            <a:chExt cx="10972800" cy="475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7280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01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56035" y="1179576"/>
            <a:ext cx="8192479" cy="8233647"/>
          </a:xfrm>
          <a:custGeom>
            <a:avLst/>
            <a:gdLst/>
            <a:ahLst/>
            <a:cxnLst/>
            <a:rect r="r" b="b" t="t" l="l"/>
            <a:pathLst>
              <a:path h="8233647" w="8192479">
                <a:moveTo>
                  <a:pt x="0" y="0"/>
                </a:moveTo>
                <a:lnTo>
                  <a:pt x="8192479" y="0"/>
                </a:lnTo>
                <a:lnTo>
                  <a:pt x="8192479" y="8233647"/>
                </a:lnTo>
                <a:lnTo>
                  <a:pt x="0" y="8233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77340" y="932688"/>
            <a:ext cx="14264640" cy="822960"/>
            <a:chOff x="0" y="0"/>
            <a:chExt cx="1901952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19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90195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Team Details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58628" y="424624"/>
            <a:ext cx="1016127" cy="1016127"/>
            <a:chOff x="0" y="0"/>
            <a:chExt cx="1354836" cy="13548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836" cy="1354836"/>
            </a:xfrm>
            <a:custGeom>
              <a:avLst/>
              <a:gdLst/>
              <a:ahLst/>
              <a:cxnLst/>
              <a:rect r="r" b="b" t="t" l="l"/>
              <a:pathLst>
                <a:path h="1354836" w="1354836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cubicBezTo>
                    <a:pt x="1051560" y="0"/>
                    <a:pt x="1354836" y="303276"/>
                    <a:pt x="1354836" y="677418"/>
                  </a:cubicBezTo>
                  <a:cubicBezTo>
                    <a:pt x="1354836" y="1051560"/>
                    <a:pt x="1051560" y="1354836"/>
                    <a:pt x="677418" y="1354836"/>
                  </a:cubicBezTo>
                  <a:cubicBezTo>
                    <a:pt x="303276" y="1354836"/>
                    <a:pt x="0" y="1051560"/>
                    <a:pt x="0" y="67741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596360" y="562356"/>
            <a:ext cx="740664" cy="740664"/>
            <a:chOff x="0" y="0"/>
            <a:chExt cx="987552" cy="987552"/>
          </a:xfrm>
        </p:grpSpPr>
        <p:sp>
          <p:nvSpPr>
            <p:cNvPr name="Freeform 17" id="17" descr="/home/claude/work/iitm_bs_logo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13435" y="2116455"/>
            <a:ext cx="7562850" cy="7219950"/>
            <a:chOff x="0" y="0"/>
            <a:chExt cx="10083800" cy="9626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83800" cy="9626600"/>
            </a:xfrm>
            <a:custGeom>
              <a:avLst/>
              <a:gdLst/>
              <a:ahLst/>
              <a:cxnLst/>
              <a:rect r="r" b="b" t="t" l="l"/>
              <a:pathLst>
                <a:path h="9626600" w="10083800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9918827" y="0"/>
                  </a:lnTo>
                  <a:cubicBezTo>
                    <a:pt x="10009886" y="0"/>
                    <a:pt x="10083800" y="73914"/>
                    <a:pt x="10083800" y="164973"/>
                  </a:cubicBezTo>
                  <a:lnTo>
                    <a:pt x="10083800" y="9461627"/>
                  </a:lnTo>
                  <a:cubicBezTo>
                    <a:pt x="10083800" y="9552813"/>
                    <a:pt x="10009886" y="9626600"/>
                    <a:pt x="9918827" y="9626600"/>
                  </a:cubicBezTo>
                  <a:lnTo>
                    <a:pt x="164973" y="9626600"/>
                  </a:lnTo>
                  <a:cubicBezTo>
                    <a:pt x="73914" y="9626600"/>
                    <a:pt x="0" y="9552686"/>
                    <a:pt x="0" y="9461627"/>
                  </a:cubicBezTo>
                  <a:close/>
                </a:path>
              </a:pathLst>
            </a:custGeom>
            <a:solidFill>
              <a:srgbClr val="FBF7EA"/>
            </a:solidFill>
            <a:ln w="19050" cap="sq">
              <a:solidFill>
                <a:srgbClr val="E9DFC0"/>
              </a:solidFill>
              <a:prstDash val="solid"/>
              <a:miter/>
            </a:ln>
          </p:spPr>
        </p:sp>
      </p:grpSp>
      <p:sp>
        <p:nvSpPr>
          <p:cNvPr name="AutoShape 20" id="20"/>
          <p:cNvSpPr/>
          <p:nvPr/>
        </p:nvSpPr>
        <p:spPr>
          <a:xfrm rot="9660">
            <a:off x="1197473" y="3136202"/>
            <a:ext cx="6794783" cy="0"/>
          </a:xfrm>
          <a:prstGeom prst="line">
            <a:avLst/>
          </a:prstGeom>
          <a:ln cap="rnd" w="9525">
            <a:solidFill>
              <a:srgbClr val="E9DF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454515" y="2116455"/>
            <a:ext cx="7837170" cy="7219950"/>
            <a:chOff x="0" y="0"/>
            <a:chExt cx="10449560" cy="9626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49560" cy="9626600"/>
            </a:xfrm>
            <a:custGeom>
              <a:avLst/>
              <a:gdLst/>
              <a:ahLst/>
              <a:cxnLst/>
              <a:rect r="r" b="b" t="t" l="l"/>
              <a:pathLst>
                <a:path h="9626600" w="10449560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10284587" y="0"/>
                  </a:lnTo>
                  <a:cubicBezTo>
                    <a:pt x="10375773" y="0"/>
                    <a:pt x="10449560" y="73914"/>
                    <a:pt x="10449560" y="164973"/>
                  </a:cubicBezTo>
                  <a:lnTo>
                    <a:pt x="10449560" y="9461627"/>
                  </a:lnTo>
                  <a:cubicBezTo>
                    <a:pt x="10449560" y="9552813"/>
                    <a:pt x="10375646" y="9626600"/>
                    <a:pt x="10284587" y="9626600"/>
                  </a:cubicBezTo>
                  <a:lnTo>
                    <a:pt x="164973" y="9626600"/>
                  </a:lnTo>
                  <a:cubicBezTo>
                    <a:pt x="73914" y="9626600"/>
                    <a:pt x="0" y="9552686"/>
                    <a:pt x="0" y="9461627"/>
                  </a:cubicBezTo>
                  <a:close/>
                </a:path>
              </a:pathLst>
            </a:custGeom>
            <a:solidFill>
              <a:srgbClr val="F5F6FA"/>
            </a:solidFill>
            <a:ln w="19050" cap="sq">
              <a:solidFill>
                <a:srgbClr val="E7E9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464040" y="2125980"/>
            <a:ext cx="7818120" cy="548640"/>
            <a:chOff x="0" y="0"/>
            <a:chExt cx="1042416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2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2416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259568" y="0"/>
                  </a:lnTo>
                  <a:cubicBezTo>
                    <a:pt x="10350500" y="0"/>
                    <a:pt x="10424160" y="73660"/>
                    <a:pt x="10424160" y="164592"/>
                  </a:cubicBezTo>
                  <a:lnTo>
                    <a:pt x="10424160" y="566928"/>
                  </a:lnTo>
                  <a:cubicBezTo>
                    <a:pt x="10424160" y="657860"/>
                    <a:pt x="10350500" y="731520"/>
                    <a:pt x="10259568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464040" y="2400300"/>
            <a:ext cx="7818120" cy="274320"/>
            <a:chOff x="0" y="0"/>
            <a:chExt cx="10424160" cy="365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793224" y="2125980"/>
            <a:ext cx="2331720" cy="548640"/>
            <a:chOff x="0" y="0"/>
            <a:chExt cx="310896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08960" cy="731520"/>
            </a:xfrm>
            <a:custGeom>
              <a:avLst/>
              <a:gdLst/>
              <a:ahLst/>
              <a:cxnLst/>
              <a:rect r="r" b="b" t="t" l="l"/>
              <a:pathLst>
                <a:path h="73152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811" r="0" b="-3281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310896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124944" y="2125980"/>
            <a:ext cx="2606040" cy="548640"/>
            <a:chOff x="0" y="0"/>
            <a:chExt cx="3474720" cy="7315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474720" cy="731520"/>
            </a:xfrm>
            <a:custGeom>
              <a:avLst/>
              <a:gdLst/>
              <a:ahLst/>
              <a:cxnLst/>
              <a:rect r="r" b="b" t="t" l="l"/>
              <a:pathLst>
                <a:path h="73152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34747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Name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730984" y="2125980"/>
            <a:ext cx="2221992" cy="548640"/>
            <a:chOff x="0" y="0"/>
            <a:chExt cx="2962656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962656" cy="731520"/>
            </a:xfrm>
            <a:custGeom>
              <a:avLst/>
              <a:gdLst/>
              <a:ahLst/>
              <a:cxnLst/>
              <a:rect r="r" b="b" t="t" l="l"/>
              <a:pathLst>
                <a:path h="73152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914" r="0" b="-28914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962656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 / Contribution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793224" y="2674620"/>
            <a:ext cx="2331720" cy="1108710"/>
            <a:chOff x="0" y="0"/>
            <a:chExt cx="3108960" cy="1478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08960" cy="1478280"/>
            </a:xfrm>
            <a:custGeom>
              <a:avLst/>
              <a:gdLst/>
              <a:ahLst/>
              <a:cxnLst/>
              <a:rect r="r" b="b" t="t" l="l"/>
              <a:pathLst>
                <a:path h="14782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07" t="0" r="-11007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3108960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Leader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124944" y="2674620"/>
            <a:ext cx="2606040" cy="1108710"/>
            <a:chOff x="0" y="0"/>
            <a:chExt cx="3474720" cy="1478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74720" cy="1478280"/>
            </a:xfrm>
            <a:custGeom>
              <a:avLst/>
              <a:gdLst/>
              <a:ahLst/>
              <a:cxnLst/>
              <a:rect r="r" b="b" t="t" l="l"/>
              <a:pathLst>
                <a:path h="14782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85" t="0" r="-4585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3474720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Mohit Tewari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730984" y="2674620"/>
            <a:ext cx="2221992" cy="1108710"/>
            <a:chOff x="0" y="0"/>
            <a:chExt cx="2962656" cy="1478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62656" cy="1478280"/>
            </a:xfrm>
            <a:custGeom>
              <a:avLst/>
              <a:gdLst/>
              <a:ahLst/>
              <a:cxnLst/>
              <a:rect r="r" b="b" t="t" l="l"/>
              <a:pathLst>
                <a:path h="147828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019" t="0" r="-14019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962656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</a:t>
              </a: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oject Manager &amp; Systems Architect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>
            <a:off x="9623290" y="3788092"/>
            <a:ext cx="7837166" cy="19013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6" id="46"/>
          <p:cNvGrpSpPr/>
          <p:nvPr/>
        </p:nvGrpSpPr>
        <p:grpSpPr>
          <a:xfrm rot="0">
            <a:off x="9464040" y="3783330"/>
            <a:ext cx="7818120" cy="1108710"/>
            <a:chOff x="0" y="0"/>
            <a:chExt cx="10424160" cy="1478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424160" cy="1478280"/>
            </a:xfrm>
            <a:custGeom>
              <a:avLst/>
              <a:gdLst/>
              <a:ahLst/>
              <a:cxnLst/>
              <a:rect r="r" b="b" t="t" l="l"/>
              <a:pathLst>
                <a:path h="14782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478280"/>
                  </a:lnTo>
                  <a:lnTo>
                    <a:pt x="0" y="1478280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793224" y="3783330"/>
            <a:ext cx="2331720" cy="1108710"/>
            <a:chOff x="0" y="0"/>
            <a:chExt cx="3108960" cy="1478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108960" cy="1478280"/>
            </a:xfrm>
            <a:custGeom>
              <a:avLst/>
              <a:gdLst/>
              <a:ahLst/>
              <a:cxnLst/>
              <a:rect r="r" b="b" t="t" l="l"/>
              <a:pathLst>
                <a:path h="14782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07" t="0" r="-11007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108960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2124944" y="3783330"/>
            <a:ext cx="2606040" cy="1108710"/>
            <a:chOff x="0" y="0"/>
            <a:chExt cx="3474720" cy="1478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74720" cy="1478280"/>
            </a:xfrm>
            <a:custGeom>
              <a:avLst/>
              <a:gdLst/>
              <a:ahLst/>
              <a:cxnLst/>
              <a:rect r="r" b="b" t="t" l="l"/>
              <a:pathLst>
                <a:path h="14782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85" t="0" r="-4585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474720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Nitya Prakash Pandey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4730984" y="3783330"/>
            <a:ext cx="2221992" cy="1108710"/>
            <a:chOff x="0" y="0"/>
            <a:chExt cx="2962656" cy="14782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962656" cy="1478280"/>
            </a:xfrm>
            <a:custGeom>
              <a:avLst/>
              <a:gdLst/>
              <a:ahLst/>
              <a:cxnLst/>
              <a:rect r="r" b="b" t="t" l="l"/>
              <a:pathLst>
                <a:path h="147828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019" t="0" r="-1401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2962656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</a:t>
              </a: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omputer Vision Researcher</a:t>
              </a:r>
            </a:p>
          </p:txBody>
        </p:sp>
      </p:grpSp>
      <p:sp>
        <p:nvSpPr>
          <p:cNvPr name="AutoShape 57" id="57"/>
          <p:cNvSpPr/>
          <p:nvPr/>
        </p:nvSpPr>
        <p:spPr>
          <a:xfrm rot="8340">
            <a:off x="9454505" y="4887278"/>
            <a:ext cx="7837189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8" id="58"/>
          <p:cNvGrpSpPr/>
          <p:nvPr/>
        </p:nvGrpSpPr>
        <p:grpSpPr>
          <a:xfrm rot="0">
            <a:off x="9793224" y="4892040"/>
            <a:ext cx="2331720" cy="1108710"/>
            <a:chOff x="0" y="0"/>
            <a:chExt cx="3108960" cy="147828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108960" cy="1478280"/>
            </a:xfrm>
            <a:custGeom>
              <a:avLst/>
              <a:gdLst/>
              <a:ahLst/>
              <a:cxnLst/>
              <a:rect r="r" b="b" t="t" l="l"/>
              <a:pathLst>
                <a:path h="14782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07" t="0" r="-11007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3108960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3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2124944" y="4892040"/>
            <a:ext cx="2606040" cy="1108710"/>
            <a:chOff x="0" y="0"/>
            <a:chExt cx="3474720" cy="1478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474720" cy="1478280"/>
            </a:xfrm>
            <a:custGeom>
              <a:avLst/>
              <a:gdLst/>
              <a:ahLst/>
              <a:cxnLst/>
              <a:rect r="r" b="b" t="t" l="l"/>
              <a:pathLst>
                <a:path h="14782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85" t="0" r="-4585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474720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Aditya kumar Jha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730984" y="4892040"/>
            <a:ext cx="2221992" cy="1108710"/>
            <a:chOff x="0" y="0"/>
            <a:chExt cx="2962656" cy="1478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962656" cy="1478280"/>
            </a:xfrm>
            <a:custGeom>
              <a:avLst/>
              <a:gdLst/>
              <a:ahLst/>
              <a:cxnLst/>
              <a:rect r="r" b="b" t="t" l="l"/>
              <a:pathLst>
                <a:path h="147828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019" t="0" r="-14019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2962656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Fr</a:t>
              </a: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ontend &amp; UI/UX Developer</a:t>
              </a:r>
            </a:p>
          </p:txBody>
        </p:sp>
      </p:grpSp>
      <p:sp>
        <p:nvSpPr>
          <p:cNvPr name="AutoShape 67" id="67"/>
          <p:cNvSpPr/>
          <p:nvPr/>
        </p:nvSpPr>
        <p:spPr>
          <a:xfrm rot="8340">
            <a:off x="9454505" y="5995988"/>
            <a:ext cx="7837189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8" id="68"/>
          <p:cNvGrpSpPr/>
          <p:nvPr/>
        </p:nvGrpSpPr>
        <p:grpSpPr>
          <a:xfrm rot="0">
            <a:off x="9464040" y="6000750"/>
            <a:ext cx="7818120" cy="1108710"/>
            <a:chOff x="0" y="0"/>
            <a:chExt cx="10424160" cy="147828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424160" cy="1478280"/>
            </a:xfrm>
            <a:custGeom>
              <a:avLst/>
              <a:gdLst/>
              <a:ahLst/>
              <a:cxnLst/>
              <a:rect r="r" b="b" t="t" l="l"/>
              <a:pathLst>
                <a:path h="14782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478280"/>
                  </a:lnTo>
                  <a:lnTo>
                    <a:pt x="0" y="1478280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9793224" y="6000750"/>
            <a:ext cx="2331720" cy="1108710"/>
            <a:chOff x="0" y="0"/>
            <a:chExt cx="3108960" cy="14782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108960" cy="1478280"/>
            </a:xfrm>
            <a:custGeom>
              <a:avLst/>
              <a:gdLst/>
              <a:ahLst/>
              <a:cxnLst/>
              <a:rect r="r" b="b" t="t" l="l"/>
              <a:pathLst>
                <a:path h="14782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07" t="0" r="-11007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108960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4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124944" y="6000750"/>
            <a:ext cx="2606040" cy="1108710"/>
            <a:chOff x="0" y="0"/>
            <a:chExt cx="3474720" cy="147828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474720" cy="1478280"/>
            </a:xfrm>
            <a:custGeom>
              <a:avLst/>
              <a:gdLst/>
              <a:ahLst/>
              <a:cxnLst/>
              <a:rect r="r" b="b" t="t" l="l"/>
              <a:pathLst>
                <a:path h="14782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85" t="0" r="-4585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3474720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Animesh Barai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4730984" y="6000750"/>
            <a:ext cx="2221992" cy="1108710"/>
            <a:chOff x="0" y="0"/>
            <a:chExt cx="2962656" cy="147828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962656" cy="1478280"/>
            </a:xfrm>
            <a:custGeom>
              <a:avLst/>
              <a:gdLst/>
              <a:ahLst/>
              <a:cxnLst/>
              <a:rect r="r" b="b" t="t" l="l"/>
              <a:pathLst>
                <a:path h="147828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019" t="0" r="-14019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2962656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Back</a:t>
              </a: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end &amp; Database Engineer</a:t>
              </a:r>
            </a:p>
          </p:txBody>
        </p:sp>
      </p:grpSp>
      <p:sp>
        <p:nvSpPr>
          <p:cNvPr name="AutoShape 79" id="79"/>
          <p:cNvSpPr/>
          <p:nvPr/>
        </p:nvSpPr>
        <p:spPr>
          <a:xfrm rot="8340">
            <a:off x="9454505" y="7104697"/>
            <a:ext cx="7837189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0" id="80"/>
          <p:cNvGrpSpPr/>
          <p:nvPr/>
        </p:nvGrpSpPr>
        <p:grpSpPr>
          <a:xfrm rot="0">
            <a:off x="9793224" y="7109460"/>
            <a:ext cx="2331720" cy="1108710"/>
            <a:chOff x="0" y="0"/>
            <a:chExt cx="3108960" cy="14782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108960" cy="1478280"/>
            </a:xfrm>
            <a:custGeom>
              <a:avLst/>
              <a:gdLst/>
              <a:ahLst/>
              <a:cxnLst/>
              <a:rect r="r" b="b" t="t" l="l"/>
              <a:pathLst>
                <a:path h="14782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07" t="0" r="-11007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108960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5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124944" y="7109460"/>
            <a:ext cx="2606040" cy="1108710"/>
            <a:chOff x="0" y="0"/>
            <a:chExt cx="3474720" cy="14782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474720" cy="1478280"/>
            </a:xfrm>
            <a:custGeom>
              <a:avLst/>
              <a:gdLst/>
              <a:ahLst/>
              <a:cxnLst/>
              <a:rect r="r" b="b" t="t" l="l"/>
              <a:pathLst>
                <a:path h="14782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85" t="0" r="-4585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474720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Suhani Parveen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4730984" y="7109460"/>
            <a:ext cx="2221992" cy="1108710"/>
            <a:chOff x="0" y="0"/>
            <a:chExt cx="2962656" cy="147828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962656" cy="1478280"/>
            </a:xfrm>
            <a:custGeom>
              <a:avLst/>
              <a:gdLst/>
              <a:ahLst/>
              <a:cxnLst/>
              <a:rect r="r" b="b" t="t" l="l"/>
              <a:pathLst>
                <a:path h="147828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019" t="0" r="-14019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2962656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QA,</a:t>
              </a: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Evaluation Metrics &amp; Documentation</a:t>
              </a:r>
            </a:p>
          </p:txBody>
        </p:sp>
      </p:grpSp>
      <p:sp>
        <p:nvSpPr>
          <p:cNvPr name="AutoShape 89" id="89"/>
          <p:cNvSpPr/>
          <p:nvPr/>
        </p:nvSpPr>
        <p:spPr>
          <a:xfrm rot="8340">
            <a:off x="9454505" y="8213407"/>
            <a:ext cx="7837189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0" id="90"/>
          <p:cNvGrpSpPr/>
          <p:nvPr/>
        </p:nvGrpSpPr>
        <p:grpSpPr>
          <a:xfrm rot="0">
            <a:off x="9464040" y="8218170"/>
            <a:ext cx="7818120" cy="1108710"/>
            <a:chOff x="0" y="0"/>
            <a:chExt cx="10424160" cy="14782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424160" cy="1478280"/>
            </a:xfrm>
            <a:custGeom>
              <a:avLst/>
              <a:gdLst/>
              <a:ahLst/>
              <a:cxnLst/>
              <a:rect r="r" b="b" t="t" l="l"/>
              <a:pathLst>
                <a:path h="147828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478280"/>
                  </a:lnTo>
                  <a:lnTo>
                    <a:pt x="0" y="1478280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9793224" y="8218170"/>
            <a:ext cx="2331720" cy="1108710"/>
            <a:chOff x="0" y="0"/>
            <a:chExt cx="3108960" cy="14782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108960" cy="1478280"/>
            </a:xfrm>
            <a:custGeom>
              <a:avLst/>
              <a:gdLst/>
              <a:ahLst/>
              <a:cxnLst/>
              <a:rect r="r" b="b" t="t" l="l"/>
              <a:pathLst>
                <a:path h="1478280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07" t="0" r="-11007" b="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108960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b="true" sz="1725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Member 6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2124944" y="8218170"/>
            <a:ext cx="2606040" cy="1108710"/>
            <a:chOff x="0" y="0"/>
            <a:chExt cx="3474720" cy="14782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3474720" cy="1478280"/>
            </a:xfrm>
            <a:custGeom>
              <a:avLst/>
              <a:gdLst/>
              <a:ahLst/>
              <a:cxnLst/>
              <a:rect r="r" b="b" t="t" l="l"/>
              <a:pathLst>
                <a:path h="1478280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85" t="0" r="-4585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3474720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Prashant Sharma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4730984" y="8218170"/>
            <a:ext cx="2221992" cy="1108710"/>
            <a:chOff x="0" y="0"/>
            <a:chExt cx="2962656" cy="14782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962656" cy="1478280"/>
            </a:xfrm>
            <a:custGeom>
              <a:avLst/>
              <a:gdLst/>
              <a:ahLst/>
              <a:cxnLst/>
              <a:rect r="r" b="b" t="t" l="l"/>
              <a:pathLst>
                <a:path h="1478280" w="2962656">
                  <a:moveTo>
                    <a:pt x="0" y="0"/>
                  </a:moveTo>
                  <a:lnTo>
                    <a:pt x="2962656" y="0"/>
                  </a:lnTo>
                  <a:lnTo>
                    <a:pt x="2962656" y="1478280"/>
                  </a:lnTo>
                  <a:lnTo>
                    <a:pt x="0" y="1478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019" t="0" r="-14019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2962656" cy="1516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ML</a:t>
              </a:r>
              <a:r>
                <a:rPr lang="en-US" sz="1725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&amp; Data Pipeline Engineer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822960" y="9779508"/>
            <a:ext cx="13030200" cy="411480"/>
            <a:chOff x="0" y="0"/>
            <a:chExt cx="17373600" cy="54864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737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17373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IITM BS Degree Programme</a:t>
              </a: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- Alibaba and 6 devs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3345668" y="9779508"/>
            <a:ext cx="4114800" cy="411480"/>
            <a:chOff x="0" y="0"/>
            <a:chExt cx="5486400" cy="54864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01 of 08</a:t>
              </a:r>
            </a:p>
          </p:txBody>
        </p:sp>
      </p:grpSp>
      <p:sp>
        <p:nvSpPr>
          <p:cNvPr name="AutoShape 107" id="107"/>
          <p:cNvSpPr/>
          <p:nvPr/>
        </p:nvSpPr>
        <p:spPr>
          <a:xfrm>
            <a:off x="813431" y="9701335"/>
            <a:ext cx="16656556" cy="19187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8" id="108"/>
          <p:cNvSpPr txBox="true"/>
          <p:nvPr/>
        </p:nvSpPr>
        <p:spPr>
          <a:xfrm rot="0">
            <a:off x="1097280" y="5389245"/>
            <a:ext cx="6708636" cy="316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7"/>
              </a:lnSpc>
              <a:spcBef>
                <a:spcPct val="0"/>
              </a:spcBef>
            </a:pPr>
            <a:r>
              <a:rPr lang="en-US" b="true" sz="233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Mission:</a:t>
            </a:r>
          </a:p>
          <a:p>
            <a:pPr algn="just">
              <a:lnSpc>
                <a:spcPts val="2327"/>
              </a:lnSpc>
              <a:spcBef>
                <a:spcPct val="0"/>
              </a:spcBef>
            </a:pPr>
            <a:r>
              <a:rPr lang="en-US" sz="193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Delivering a physics-guided, uncertainty-aware framework for sub-pixel accuracy across Chandrayaan-2 and LROC payloads.</a:t>
            </a:r>
          </a:p>
          <a:p>
            <a:pPr algn="just">
              <a:lnSpc>
                <a:spcPts val="2807"/>
              </a:lnSpc>
              <a:spcBef>
                <a:spcPct val="0"/>
              </a:spcBef>
            </a:pPr>
          </a:p>
          <a:p>
            <a:pPr algn="just">
              <a:lnSpc>
                <a:spcPts val="2807"/>
              </a:lnSpc>
              <a:spcBef>
                <a:spcPct val="0"/>
              </a:spcBef>
            </a:pPr>
            <a:r>
              <a:rPr lang="en-US" b="true" sz="233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Strengths:</a:t>
            </a:r>
          </a:p>
          <a:p>
            <a:pPr algn="just" marL="418821" indent="-209410" lvl="1">
              <a:lnSpc>
                <a:spcPts val="2327"/>
              </a:lnSpc>
              <a:spcBef>
                <a:spcPct val="0"/>
              </a:spcBef>
              <a:buFont typeface="Arial"/>
              <a:buChar char="•"/>
            </a:pPr>
            <a:r>
              <a:rPr lang="en-US" sz="193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End-to-End Execution: From raw PDS4 data extraction to deep-learning feature matching and UI visualization.</a:t>
            </a:r>
          </a:p>
          <a:p>
            <a:pPr algn="just" marL="418821" indent="-209410" lvl="1">
              <a:lnSpc>
                <a:spcPts val="2327"/>
              </a:lnSpc>
              <a:spcBef>
                <a:spcPct val="0"/>
              </a:spcBef>
              <a:buFont typeface="Arial"/>
              <a:buChar char="•"/>
            </a:pPr>
            <a:r>
              <a:rPr lang="en-US" sz="193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Research-Backed: Moving beyond standard descriptors to implement terrain-stable, modality-aware contrastive learning.</a:t>
            </a:r>
          </a:p>
          <a:p>
            <a:pPr algn="just">
              <a:lnSpc>
                <a:spcPts val="2207"/>
              </a:lnSpc>
              <a:spcBef>
                <a:spcPct val="0"/>
              </a:spcBef>
            </a:pPr>
          </a:p>
        </p:txBody>
      </p:sp>
      <p:sp>
        <p:nvSpPr>
          <p:cNvPr name="TextBox 109" id="109"/>
          <p:cNvSpPr txBox="true"/>
          <p:nvPr/>
        </p:nvSpPr>
        <p:spPr>
          <a:xfrm rot="0">
            <a:off x="1097280" y="3181350"/>
            <a:ext cx="6894963" cy="147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5"/>
              </a:lnSpc>
              <a:spcBef>
                <a:spcPct val="0"/>
              </a:spcBef>
            </a:pPr>
            <a:r>
              <a:rPr lang="en-US" sz="192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 specialized unit built to conquer ISRO's registration bottlenecks. We seamlessly integrate heavy-duty processing of planetary telemetry, deep feature extraction to counter extreme lunar shadows, interactive visual mapping of cross-sensor alignments, and rigorous validation of sub-pixel precision.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-1127515" y="2650405"/>
            <a:ext cx="756285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b="true" sz="244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Alibaba and 6 devs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1054" y="619030"/>
            <a:ext cx="572452" cy="572452"/>
            <a:chOff x="0" y="0"/>
            <a:chExt cx="763270" cy="763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3270" cy="763270"/>
            </a:xfrm>
            <a:custGeom>
              <a:avLst/>
              <a:gdLst/>
              <a:ahLst/>
              <a:cxnLst/>
              <a:rect r="r" b="b" t="t" l="l"/>
              <a:pathLst>
                <a:path h="763270" w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30936"/>
            <a:ext cx="548640" cy="548640"/>
            <a:chOff x="0" y="0"/>
            <a:chExt cx="7315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77340" y="603504"/>
            <a:ext cx="8229600" cy="356616"/>
            <a:chOff x="0" y="0"/>
            <a:chExt cx="10972800" cy="475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7280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02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56035" y="1179576"/>
            <a:ext cx="8192479" cy="8233647"/>
          </a:xfrm>
          <a:custGeom>
            <a:avLst/>
            <a:gdLst/>
            <a:ahLst/>
            <a:cxnLst/>
            <a:rect r="r" b="b" t="t" l="l"/>
            <a:pathLst>
              <a:path h="8233647" w="8192479">
                <a:moveTo>
                  <a:pt x="0" y="0"/>
                </a:moveTo>
                <a:lnTo>
                  <a:pt x="8192479" y="0"/>
                </a:lnTo>
                <a:lnTo>
                  <a:pt x="8192479" y="8233647"/>
                </a:lnTo>
                <a:lnTo>
                  <a:pt x="0" y="8233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77340" y="932688"/>
            <a:ext cx="14264640" cy="822960"/>
            <a:chOff x="0" y="0"/>
            <a:chExt cx="1901952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19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90195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Idea / Approach / Proposed Solution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58628" y="424624"/>
            <a:ext cx="1016127" cy="1016127"/>
            <a:chOff x="0" y="0"/>
            <a:chExt cx="1354836" cy="13548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836" cy="1354836"/>
            </a:xfrm>
            <a:custGeom>
              <a:avLst/>
              <a:gdLst/>
              <a:ahLst/>
              <a:cxnLst/>
              <a:rect r="r" b="b" t="t" l="l"/>
              <a:pathLst>
                <a:path h="1354836" w="1354836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cubicBezTo>
                    <a:pt x="1051560" y="0"/>
                    <a:pt x="1354836" y="303276"/>
                    <a:pt x="1354836" y="677418"/>
                  </a:cubicBezTo>
                  <a:cubicBezTo>
                    <a:pt x="1354836" y="1051560"/>
                    <a:pt x="1051560" y="1354836"/>
                    <a:pt x="677418" y="1354836"/>
                  </a:cubicBezTo>
                  <a:cubicBezTo>
                    <a:pt x="303276" y="1354836"/>
                    <a:pt x="0" y="1051560"/>
                    <a:pt x="0" y="67741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596360" y="562356"/>
            <a:ext cx="740664" cy="740664"/>
            <a:chOff x="0" y="0"/>
            <a:chExt cx="987552" cy="987552"/>
          </a:xfrm>
        </p:grpSpPr>
        <p:sp>
          <p:nvSpPr>
            <p:cNvPr name="Freeform 17" id="17" descr="/home/claude/work/iitm_bs_logo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13435" y="2116455"/>
            <a:ext cx="7562850" cy="7480554"/>
            <a:chOff x="0" y="0"/>
            <a:chExt cx="10083800" cy="9974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83800" cy="9974072"/>
            </a:xfrm>
            <a:custGeom>
              <a:avLst/>
              <a:gdLst/>
              <a:ahLst/>
              <a:cxnLst/>
              <a:rect r="r" b="b" t="t" l="l"/>
              <a:pathLst>
                <a:path h="9974072" w="10083800">
                  <a:moveTo>
                    <a:pt x="0" y="170928"/>
                  </a:moveTo>
                  <a:cubicBezTo>
                    <a:pt x="0" y="76582"/>
                    <a:pt x="73914" y="0"/>
                    <a:pt x="164973" y="0"/>
                  </a:cubicBezTo>
                  <a:lnTo>
                    <a:pt x="9918827" y="0"/>
                  </a:lnTo>
                  <a:cubicBezTo>
                    <a:pt x="10009886" y="0"/>
                    <a:pt x="10083800" y="76582"/>
                    <a:pt x="10083800" y="170928"/>
                  </a:cubicBezTo>
                  <a:lnTo>
                    <a:pt x="10083800" y="9803144"/>
                  </a:lnTo>
                  <a:cubicBezTo>
                    <a:pt x="10083800" y="9897621"/>
                    <a:pt x="10009886" y="9974072"/>
                    <a:pt x="9918827" y="9974072"/>
                  </a:cubicBezTo>
                  <a:lnTo>
                    <a:pt x="164973" y="9974072"/>
                  </a:lnTo>
                  <a:cubicBezTo>
                    <a:pt x="73914" y="9974072"/>
                    <a:pt x="0" y="9897490"/>
                    <a:pt x="0" y="9803144"/>
                  </a:cubicBezTo>
                  <a:close/>
                </a:path>
              </a:pathLst>
            </a:custGeom>
            <a:solidFill>
              <a:srgbClr val="FBF7EA"/>
            </a:solidFill>
            <a:ln w="19050" cap="sq">
              <a:solidFill>
                <a:srgbClr val="E9DFC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52144" y="2427732"/>
            <a:ext cx="493776" cy="493776"/>
            <a:chOff x="0" y="0"/>
            <a:chExt cx="658368" cy="6583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D6A64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52144" y="2427732"/>
            <a:ext cx="493776" cy="493776"/>
            <a:chOff x="0" y="0"/>
            <a:chExt cx="658368" cy="6583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58368" cy="715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121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9660">
            <a:off x="1197473" y="3136202"/>
            <a:ext cx="6794783" cy="0"/>
          </a:xfrm>
          <a:prstGeom prst="line">
            <a:avLst/>
          </a:prstGeom>
          <a:ln cap="rnd" w="9525">
            <a:solidFill>
              <a:srgbClr val="E9DF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9454515" y="2116455"/>
            <a:ext cx="7837170" cy="2323338"/>
            <a:chOff x="0" y="0"/>
            <a:chExt cx="10449560" cy="309778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49560" cy="3097784"/>
            </a:xfrm>
            <a:custGeom>
              <a:avLst/>
              <a:gdLst/>
              <a:ahLst/>
              <a:cxnLst/>
              <a:rect r="r" b="b" t="t" l="l"/>
              <a:pathLst>
                <a:path h="3097784" w="1044956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10283571" y="0"/>
                  </a:lnTo>
                  <a:cubicBezTo>
                    <a:pt x="10375264" y="0"/>
                    <a:pt x="10449560" y="74295"/>
                    <a:pt x="10449560" y="165989"/>
                  </a:cubicBezTo>
                  <a:lnTo>
                    <a:pt x="10449560" y="2931795"/>
                  </a:lnTo>
                  <a:cubicBezTo>
                    <a:pt x="10449560" y="3023489"/>
                    <a:pt x="10375264" y="3097784"/>
                    <a:pt x="10283571" y="3097784"/>
                  </a:cubicBezTo>
                  <a:lnTo>
                    <a:pt x="165989" y="3097784"/>
                  </a:lnTo>
                  <a:cubicBezTo>
                    <a:pt x="74295" y="3097784"/>
                    <a:pt x="0" y="3023489"/>
                    <a:pt x="0" y="2931795"/>
                  </a:cubicBezTo>
                  <a:close/>
                </a:path>
              </a:pathLst>
            </a:custGeom>
            <a:solidFill>
              <a:srgbClr val="F5F6FA"/>
            </a:solidFill>
            <a:ln w="19050" cap="sq">
              <a:solidFill>
                <a:srgbClr val="E7E9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781318" y="2443258"/>
            <a:ext cx="709612" cy="709612"/>
            <a:chOff x="0" y="0"/>
            <a:chExt cx="946150" cy="94615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46150" cy="946150"/>
            </a:xfrm>
            <a:custGeom>
              <a:avLst/>
              <a:gdLst/>
              <a:ahLst/>
              <a:cxnLst/>
              <a:rect r="r" b="b" t="t" l="l"/>
              <a:pathLst>
                <a:path h="946150" w="946150">
                  <a:moveTo>
                    <a:pt x="0" y="473075"/>
                  </a:moveTo>
                  <a:cubicBezTo>
                    <a:pt x="0" y="211836"/>
                    <a:pt x="211836" y="0"/>
                    <a:pt x="473075" y="0"/>
                  </a:cubicBezTo>
                  <a:cubicBezTo>
                    <a:pt x="734314" y="0"/>
                    <a:pt x="946150" y="211836"/>
                    <a:pt x="946150" y="473075"/>
                  </a:cubicBezTo>
                  <a:cubicBezTo>
                    <a:pt x="946150" y="734314"/>
                    <a:pt x="734314" y="946150"/>
                    <a:pt x="473075" y="946150"/>
                  </a:cubicBezTo>
                  <a:cubicBezTo>
                    <a:pt x="211836" y="946150"/>
                    <a:pt x="0" y="734314"/>
                    <a:pt x="0" y="473075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793224" y="2455164"/>
            <a:ext cx="685800" cy="685800"/>
            <a:chOff x="0" y="0"/>
            <a:chExt cx="91440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753344" y="2400300"/>
            <a:ext cx="6240780" cy="480060"/>
            <a:chOff x="0" y="0"/>
            <a:chExt cx="8321040" cy="640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321040" cy="640080"/>
            </a:xfrm>
            <a:custGeom>
              <a:avLst/>
              <a:gdLst/>
              <a:ahLst/>
              <a:cxnLst/>
              <a:rect r="r" b="b" t="t" l="l"/>
              <a:pathLst>
                <a:path h="64008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832104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0753344" y="2947702"/>
            <a:ext cx="6057929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Current</a:t>
            </a:r>
            <a:r>
              <a:rPr lang="en-US" sz="1800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algorithms chase raw image appearance. On the Moon, extreme shadows and massive scale differences cause appearance-based descriptors to fail. Identifying whether a terrain feature is actually a reliable landmark remains unsolved.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454515" y="4695063"/>
            <a:ext cx="7837170" cy="2323338"/>
            <a:chOff x="0" y="0"/>
            <a:chExt cx="10449560" cy="30977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449560" cy="3097784"/>
            </a:xfrm>
            <a:custGeom>
              <a:avLst/>
              <a:gdLst/>
              <a:ahLst/>
              <a:cxnLst/>
              <a:rect r="r" b="b" t="t" l="l"/>
              <a:pathLst>
                <a:path h="3097784" w="1044956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10283571" y="0"/>
                  </a:lnTo>
                  <a:cubicBezTo>
                    <a:pt x="10375264" y="0"/>
                    <a:pt x="10449560" y="74295"/>
                    <a:pt x="10449560" y="165989"/>
                  </a:cubicBezTo>
                  <a:lnTo>
                    <a:pt x="10449560" y="2931795"/>
                  </a:lnTo>
                  <a:cubicBezTo>
                    <a:pt x="10449560" y="3023489"/>
                    <a:pt x="10375264" y="3097784"/>
                    <a:pt x="10283571" y="3097784"/>
                  </a:cubicBezTo>
                  <a:lnTo>
                    <a:pt x="165989" y="3097784"/>
                  </a:lnTo>
                  <a:cubicBezTo>
                    <a:pt x="74295" y="3097784"/>
                    <a:pt x="0" y="3023489"/>
                    <a:pt x="0" y="2931795"/>
                  </a:cubicBezTo>
                  <a:close/>
                </a:path>
              </a:pathLst>
            </a:custGeom>
            <a:solidFill>
              <a:srgbClr val="F5F6FA"/>
            </a:solidFill>
            <a:ln w="19050" cap="sq">
              <a:solidFill>
                <a:srgbClr val="E7E9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781318" y="5021866"/>
            <a:ext cx="709612" cy="709612"/>
            <a:chOff x="0" y="0"/>
            <a:chExt cx="946150" cy="94615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46150" cy="946150"/>
            </a:xfrm>
            <a:custGeom>
              <a:avLst/>
              <a:gdLst/>
              <a:ahLst/>
              <a:cxnLst/>
              <a:rect r="r" b="b" t="t" l="l"/>
              <a:pathLst>
                <a:path h="946150" w="946150">
                  <a:moveTo>
                    <a:pt x="0" y="473075"/>
                  </a:moveTo>
                  <a:cubicBezTo>
                    <a:pt x="0" y="211836"/>
                    <a:pt x="211836" y="0"/>
                    <a:pt x="473075" y="0"/>
                  </a:cubicBezTo>
                  <a:cubicBezTo>
                    <a:pt x="734314" y="0"/>
                    <a:pt x="946150" y="211836"/>
                    <a:pt x="946150" y="473075"/>
                  </a:cubicBezTo>
                  <a:cubicBezTo>
                    <a:pt x="946150" y="734314"/>
                    <a:pt x="734314" y="946150"/>
                    <a:pt x="473075" y="946150"/>
                  </a:cubicBezTo>
                  <a:cubicBezTo>
                    <a:pt x="211836" y="946150"/>
                    <a:pt x="0" y="734314"/>
                    <a:pt x="0" y="473075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793224" y="5033772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753344" y="4978908"/>
            <a:ext cx="6240780" cy="480060"/>
            <a:chOff x="0" y="0"/>
            <a:chExt cx="8321040" cy="6400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321040" cy="640080"/>
            </a:xfrm>
            <a:custGeom>
              <a:avLst/>
              <a:gdLst/>
              <a:ahLst/>
              <a:cxnLst/>
              <a:rect r="r" b="b" t="t" l="l"/>
              <a:pathLst>
                <a:path h="64008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832104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753344" y="5559552"/>
            <a:ext cx="6057929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</a:t>
            </a:r>
            <a:r>
              <a:rPr lang="en-US" sz="1800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physics-guided, multimodal framework. We explicitly predict terrain stability using acquisition geometry before matching, and then utilize a modality-aware encoder to bridge the gap between optical and hyperspectral data.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9454515" y="7273671"/>
            <a:ext cx="7837170" cy="2323338"/>
            <a:chOff x="0" y="0"/>
            <a:chExt cx="10449560" cy="30977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449560" cy="3097784"/>
            </a:xfrm>
            <a:custGeom>
              <a:avLst/>
              <a:gdLst/>
              <a:ahLst/>
              <a:cxnLst/>
              <a:rect r="r" b="b" t="t" l="l"/>
              <a:pathLst>
                <a:path h="3097784" w="1044956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10283571" y="0"/>
                  </a:lnTo>
                  <a:cubicBezTo>
                    <a:pt x="10375264" y="0"/>
                    <a:pt x="10449560" y="74295"/>
                    <a:pt x="10449560" y="165989"/>
                  </a:cubicBezTo>
                  <a:lnTo>
                    <a:pt x="10449560" y="2931795"/>
                  </a:lnTo>
                  <a:cubicBezTo>
                    <a:pt x="10449560" y="3023489"/>
                    <a:pt x="10375264" y="3097784"/>
                    <a:pt x="10283571" y="3097784"/>
                  </a:cubicBezTo>
                  <a:lnTo>
                    <a:pt x="165989" y="3097784"/>
                  </a:lnTo>
                  <a:cubicBezTo>
                    <a:pt x="74295" y="3097784"/>
                    <a:pt x="0" y="3023489"/>
                    <a:pt x="0" y="2931795"/>
                  </a:cubicBezTo>
                  <a:close/>
                </a:path>
              </a:pathLst>
            </a:custGeom>
            <a:solidFill>
              <a:srgbClr val="F5F6FA"/>
            </a:solidFill>
            <a:ln w="19050" cap="sq">
              <a:solidFill>
                <a:srgbClr val="E7E9F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9781318" y="7600474"/>
            <a:ext cx="709612" cy="709612"/>
            <a:chOff x="0" y="0"/>
            <a:chExt cx="946150" cy="94615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46150" cy="946150"/>
            </a:xfrm>
            <a:custGeom>
              <a:avLst/>
              <a:gdLst/>
              <a:ahLst/>
              <a:cxnLst/>
              <a:rect r="r" b="b" t="t" l="l"/>
              <a:pathLst>
                <a:path h="946150" w="946150">
                  <a:moveTo>
                    <a:pt x="0" y="473075"/>
                  </a:moveTo>
                  <a:cubicBezTo>
                    <a:pt x="0" y="211836"/>
                    <a:pt x="211836" y="0"/>
                    <a:pt x="473075" y="0"/>
                  </a:cubicBezTo>
                  <a:cubicBezTo>
                    <a:pt x="734314" y="0"/>
                    <a:pt x="946150" y="211836"/>
                    <a:pt x="946150" y="473075"/>
                  </a:cubicBezTo>
                  <a:cubicBezTo>
                    <a:pt x="946150" y="734314"/>
                    <a:pt x="734314" y="946150"/>
                    <a:pt x="473075" y="946150"/>
                  </a:cubicBezTo>
                  <a:cubicBezTo>
                    <a:pt x="211836" y="946150"/>
                    <a:pt x="0" y="734314"/>
                    <a:pt x="0" y="473075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9793224" y="7612380"/>
            <a:ext cx="685800" cy="685800"/>
            <a:chOff x="0" y="0"/>
            <a:chExt cx="91440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91440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753344" y="7557516"/>
            <a:ext cx="6240780" cy="480060"/>
            <a:chOff x="0" y="0"/>
            <a:chExt cx="8321040" cy="6400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321040" cy="640080"/>
            </a:xfrm>
            <a:custGeom>
              <a:avLst/>
              <a:gdLst/>
              <a:ahLst/>
              <a:cxnLst/>
              <a:rect r="r" b="b" t="t" l="l"/>
              <a:pathLst>
                <a:path h="64008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57150"/>
              <a:ext cx="832104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Makes It Different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0753344" y="8041623"/>
            <a:ext cx="6057929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 are not just</a:t>
            </a:r>
            <a:r>
              <a:rPr lang="en-US" sz="1800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applying "yet another matcher." Our system gates the matching process with a learned physics-conditioned stability score and applies uncertainty-weighted sub-pixel refinement. Every output provides a calibrated confidence metric rather than a silent guess.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13345668" y="9779508"/>
            <a:ext cx="4114800" cy="411480"/>
            <a:chOff x="0" y="0"/>
            <a:chExt cx="5486400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02 of 08</a:t>
              </a:r>
            </a:p>
          </p:txBody>
        </p:sp>
      </p:grpSp>
      <p:sp>
        <p:nvSpPr>
          <p:cNvPr name="AutoShape 62" id="62"/>
          <p:cNvSpPr/>
          <p:nvPr/>
        </p:nvSpPr>
        <p:spPr>
          <a:xfrm rot="3960">
            <a:off x="813425" y="9706166"/>
            <a:ext cx="16656568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3" id="63"/>
          <p:cNvSpPr txBox="true"/>
          <p:nvPr/>
        </p:nvSpPr>
        <p:spPr>
          <a:xfrm rot="0">
            <a:off x="1028700" y="2959989"/>
            <a:ext cx="6395143" cy="654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6224" indent="-173112" lvl="1">
              <a:lnSpc>
                <a:spcPts val="3711"/>
              </a:lnSpc>
              <a:buFont typeface="Arial"/>
              <a:buChar char="•"/>
            </a:pPr>
            <a:r>
              <a:rPr lang="en-US" b="true" sz="1913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Heterogeneous Sensors:</a:t>
            </a:r>
            <a:r>
              <a:rPr lang="en-US" sz="1913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  <a:r>
              <a:rPr lang="en-US" sz="1913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Chandrayaan-2 payloads (OHRC, TMC-2, IIRS) operate at vastly different spatial scales (from ~0.32m to ~80m) and sensing modalities. </a:t>
            </a:r>
          </a:p>
          <a:p>
            <a:pPr algn="l" marL="346224" indent="-173112" lvl="1">
              <a:lnSpc>
                <a:spcPts val="3711"/>
              </a:lnSpc>
              <a:buFont typeface="Arial"/>
              <a:buChar char="•"/>
            </a:pPr>
            <a:r>
              <a:rPr lang="en-US" b="true" sz="1913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Extreme Variations</a:t>
            </a:r>
            <a:r>
              <a:rPr lang="en-US" sz="1913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: A single crater can look completely different across sensors due to drastic shifts in solar illumination, shadows, and viewing geometry. </a:t>
            </a:r>
          </a:p>
          <a:p>
            <a:pPr algn="l" marL="346224" indent="-173112" lvl="1">
              <a:lnSpc>
                <a:spcPts val="3711"/>
              </a:lnSpc>
              <a:buFont typeface="Arial"/>
              <a:buChar char="•"/>
            </a:pPr>
            <a:r>
              <a:rPr lang="en-US" b="true" sz="1913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Limitation</a:t>
            </a:r>
            <a:r>
              <a:rPr lang="en-US" sz="1913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: Existing matchers (SIFT, ASIFT, AKAZE, SuperGlue, RIFT2, PWIFT) are useful baselines but don't model whether a feature will survive a change in illumination or geometry.</a:t>
            </a:r>
          </a:p>
          <a:p>
            <a:pPr algn="l" marL="346224" indent="-173112" lvl="1">
              <a:lnSpc>
                <a:spcPts val="3711"/>
              </a:lnSpc>
              <a:buFont typeface="Arial"/>
              <a:buChar char="•"/>
            </a:pPr>
            <a:r>
              <a:rPr lang="en-US" b="true" sz="1913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Standard</a:t>
            </a:r>
            <a:r>
              <a:rPr lang="en-US" sz="1913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: NASA's LROC NAC provides the independent, high-resolution baseline for cross-mission validation. </a:t>
            </a:r>
          </a:p>
          <a:p>
            <a:pPr algn="l" marL="346224" indent="-173112" lvl="1">
              <a:lnSpc>
                <a:spcPts val="3711"/>
              </a:lnSpc>
              <a:buFont typeface="Arial"/>
              <a:buChar char="•"/>
            </a:pPr>
            <a:r>
              <a:rPr lang="en-US" b="true" sz="1913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Target:</a:t>
            </a:r>
            <a:r>
              <a:rPr lang="en-US" sz="1913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 ISRO PS-26166 Verifiable sub-pixel accuracy across all lunar sensors(Space Technology).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1810512" y="2427732"/>
            <a:ext cx="6172200" cy="493776"/>
            <a:chOff x="0" y="0"/>
            <a:chExt cx="8229600" cy="65836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229600" cy="658368"/>
            </a:xfrm>
            <a:custGeom>
              <a:avLst/>
              <a:gdLst/>
              <a:ahLst/>
              <a:cxnLst/>
              <a:rect r="r" b="b" t="t" l="l"/>
              <a:pathLst>
                <a:path h="65836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82296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 STATEMENT CONTEXT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22960" y="9779508"/>
            <a:ext cx="13030200" cy="411480"/>
            <a:chOff x="0" y="0"/>
            <a:chExt cx="1737360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737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17373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IITM BS Degree Programme</a:t>
              </a: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- Alibaba and 6 devs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1054" y="619030"/>
            <a:ext cx="572452" cy="572452"/>
            <a:chOff x="0" y="0"/>
            <a:chExt cx="763270" cy="763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3270" cy="763270"/>
            </a:xfrm>
            <a:custGeom>
              <a:avLst/>
              <a:gdLst/>
              <a:ahLst/>
              <a:cxnLst/>
              <a:rect r="r" b="b" t="t" l="l"/>
              <a:pathLst>
                <a:path h="763270" w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30936"/>
            <a:ext cx="548640" cy="548640"/>
            <a:chOff x="0" y="0"/>
            <a:chExt cx="7315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77340" y="603504"/>
            <a:ext cx="8229600" cy="356616"/>
            <a:chOff x="0" y="0"/>
            <a:chExt cx="10972800" cy="475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7280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03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56035" y="1179576"/>
            <a:ext cx="8192479" cy="8233647"/>
          </a:xfrm>
          <a:custGeom>
            <a:avLst/>
            <a:gdLst/>
            <a:ahLst/>
            <a:cxnLst/>
            <a:rect r="r" b="b" t="t" l="l"/>
            <a:pathLst>
              <a:path h="8233647" w="8192479">
                <a:moveTo>
                  <a:pt x="0" y="0"/>
                </a:moveTo>
                <a:lnTo>
                  <a:pt x="8192479" y="0"/>
                </a:lnTo>
                <a:lnTo>
                  <a:pt x="8192479" y="8233647"/>
                </a:lnTo>
                <a:lnTo>
                  <a:pt x="0" y="8233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77340" y="932688"/>
            <a:ext cx="14264640" cy="822960"/>
            <a:chOff x="0" y="0"/>
            <a:chExt cx="1901952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19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90195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Novelty and Uniqueness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58628" y="424624"/>
            <a:ext cx="1016127" cy="1016127"/>
            <a:chOff x="0" y="0"/>
            <a:chExt cx="1354836" cy="13548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836" cy="1354836"/>
            </a:xfrm>
            <a:custGeom>
              <a:avLst/>
              <a:gdLst/>
              <a:ahLst/>
              <a:cxnLst/>
              <a:rect r="r" b="b" t="t" l="l"/>
              <a:pathLst>
                <a:path h="1354836" w="1354836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cubicBezTo>
                    <a:pt x="1051560" y="0"/>
                    <a:pt x="1354836" y="303276"/>
                    <a:pt x="1354836" y="677418"/>
                  </a:cubicBezTo>
                  <a:cubicBezTo>
                    <a:pt x="1354836" y="1051560"/>
                    <a:pt x="1051560" y="1354836"/>
                    <a:pt x="677418" y="1354836"/>
                  </a:cubicBezTo>
                  <a:cubicBezTo>
                    <a:pt x="303276" y="1354836"/>
                    <a:pt x="0" y="1051560"/>
                    <a:pt x="0" y="67741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596360" y="562356"/>
            <a:ext cx="740664" cy="740664"/>
            <a:chOff x="0" y="0"/>
            <a:chExt cx="987552" cy="987552"/>
          </a:xfrm>
        </p:grpSpPr>
        <p:sp>
          <p:nvSpPr>
            <p:cNvPr name="Freeform 17" id="17" descr="/home/claude/work/iitm_bs_logo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13435" y="2116455"/>
            <a:ext cx="7562850" cy="7219950"/>
            <a:chOff x="0" y="0"/>
            <a:chExt cx="10083800" cy="9626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83800" cy="9626600"/>
            </a:xfrm>
            <a:custGeom>
              <a:avLst/>
              <a:gdLst/>
              <a:ahLst/>
              <a:cxnLst/>
              <a:rect r="r" b="b" t="t" l="l"/>
              <a:pathLst>
                <a:path h="9626600" w="10083800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9918827" y="0"/>
                  </a:lnTo>
                  <a:cubicBezTo>
                    <a:pt x="10009886" y="0"/>
                    <a:pt x="10083800" y="73914"/>
                    <a:pt x="10083800" y="164973"/>
                  </a:cubicBezTo>
                  <a:lnTo>
                    <a:pt x="10083800" y="9461627"/>
                  </a:lnTo>
                  <a:cubicBezTo>
                    <a:pt x="10083800" y="9552813"/>
                    <a:pt x="10009886" y="9626600"/>
                    <a:pt x="9918827" y="9626600"/>
                  </a:cubicBezTo>
                  <a:lnTo>
                    <a:pt x="164973" y="9626600"/>
                  </a:lnTo>
                  <a:cubicBezTo>
                    <a:pt x="73914" y="9626600"/>
                    <a:pt x="0" y="9552686"/>
                    <a:pt x="0" y="9461627"/>
                  </a:cubicBezTo>
                  <a:close/>
                </a:path>
              </a:pathLst>
            </a:custGeom>
            <a:solidFill>
              <a:srgbClr val="FBF7EA"/>
            </a:solidFill>
            <a:ln w="19050" cap="sq">
              <a:solidFill>
                <a:srgbClr val="E9DFC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52144" y="2427732"/>
            <a:ext cx="493776" cy="493776"/>
            <a:chOff x="0" y="0"/>
            <a:chExt cx="658368" cy="6583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D6A64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52144" y="2427732"/>
            <a:ext cx="493776" cy="493776"/>
            <a:chOff x="0" y="0"/>
            <a:chExt cx="658368" cy="6583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58368" cy="715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121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9660">
            <a:off x="1197473" y="3136202"/>
            <a:ext cx="6794783" cy="0"/>
          </a:xfrm>
          <a:prstGeom prst="line">
            <a:avLst/>
          </a:prstGeom>
          <a:ln cap="rnd" w="9525">
            <a:solidFill>
              <a:srgbClr val="E9DFC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097280" y="3286125"/>
            <a:ext cx="6592853" cy="562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7425" indent="-178713" lvl="1">
              <a:lnSpc>
                <a:spcPts val="3223"/>
              </a:lnSpc>
              <a:buFont typeface="Arial"/>
              <a:buChar char="•"/>
            </a:pPr>
            <a:r>
              <a:rPr lang="en-US" sz="19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  <a:r>
              <a:rPr lang="en-US" sz="19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akharia et al. (2025, arXiv) benchmarked SIFT, ASIFT, AKAZE, RIFT2 and SuperGlue directly on Chandrayaan-2 imagery — a strong, published baseline.</a:t>
            </a:r>
          </a:p>
          <a:p>
            <a:pPr algn="l">
              <a:lnSpc>
                <a:spcPts val="3223"/>
              </a:lnSpc>
            </a:pPr>
          </a:p>
          <a:p>
            <a:pPr algn="l" marL="357425" indent="-178713" lvl="1">
              <a:lnSpc>
                <a:spcPts val="3223"/>
              </a:lnSpc>
              <a:buFont typeface="Arial"/>
              <a:buChar char="•"/>
            </a:pPr>
            <a:r>
              <a:rPr lang="en-US" sz="19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PWIFT (2026) tackles illumination specifically, with photometric reliability and bright-dark descriptors.</a:t>
            </a:r>
          </a:p>
          <a:p>
            <a:pPr algn="l">
              <a:lnSpc>
                <a:spcPts val="3223"/>
              </a:lnSpc>
            </a:pPr>
          </a:p>
          <a:p>
            <a:pPr algn="l" marL="357425" indent="-178713" lvl="1">
              <a:lnSpc>
                <a:spcPts val="3223"/>
              </a:lnSpc>
              <a:buFont typeface="Arial"/>
              <a:buChar char="•"/>
            </a:pPr>
            <a:r>
              <a:rPr lang="en-US" sz="19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None of these ask whether a matched feature will stay matchable once sun angle or sensor changes — that's the gap we target.</a:t>
            </a:r>
          </a:p>
          <a:p>
            <a:pPr algn="l">
              <a:lnSpc>
                <a:spcPts val="3223"/>
              </a:lnSpc>
            </a:pPr>
          </a:p>
          <a:p>
            <a:pPr algn="l" marL="357425" indent="-178713" lvl="1">
              <a:lnSpc>
                <a:spcPts val="3223"/>
              </a:lnSpc>
              <a:buFont typeface="Arial"/>
              <a:buChar char="•"/>
            </a:pPr>
            <a:r>
              <a:rPr lang="en-US" sz="197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Our contribution is narrow and defensible: a learnable stability score, not another descriptor.</a:t>
            </a:r>
          </a:p>
          <a:p>
            <a:pPr algn="l">
              <a:lnSpc>
                <a:spcPts val="3223"/>
              </a:lnSpc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9454515" y="2116455"/>
            <a:ext cx="7837170" cy="3379470"/>
            <a:chOff x="0" y="0"/>
            <a:chExt cx="10449560" cy="45059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49561" cy="4505960"/>
            </a:xfrm>
            <a:custGeom>
              <a:avLst/>
              <a:gdLst/>
              <a:ahLst/>
              <a:cxnLst/>
              <a:rect r="r" b="b" t="t" l="l"/>
              <a:pathLst>
                <a:path h="4505960" w="1044956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10284079" y="0"/>
                  </a:lnTo>
                  <a:cubicBezTo>
                    <a:pt x="10375519" y="0"/>
                    <a:pt x="10449561" y="74041"/>
                    <a:pt x="10449561" y="165481"/>
                  </a:cubicBezTo>
                  <a:lnTo>
                    <a:pt x="10449561" y="4340479"/>
                  </a:lnTo>
                  <a:cubicBezTo>
                    <a:pt x="10449561" y="4431919"/>
                    <a:pt x="10375519" y="4505960"/>
                    <a:pt x="10284079" y="4505960"/>
                  </a:cubicBezTo>
                  <a:lnTo>
                    <a:pt x="165481" y="4505960"/>
                  </a:lnTo>
                  <a:cubicBezTo>
                    <a:pt x="74041" y="4505960"/>
                    <a:pt x="0" y="4431919"/>
                    <a:pt x="0" y="4340479"/>
                  </a:cubicBezTo>
                  <a:close/>
                </a:path>
              </a:pathLst>
            </a:custGeom>
            <a:solidFill>
              <a:srgbClr val="FCF1F0"/>
            </a:solidFill>
            <a:ln w="19050" cap="sq">
              <a:solidFill>
                <a:srgbClr val="F1D8D6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848088" y="2400300"/>
            <a:ext cx="7050024" cy="391408"/>
            <a:chOff x="0" y="0"/>
            <a:chExt cx="9400032" cy="52187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400032" cy="521878"/>
            </a:xfrm>
            <a:custGeom>
              <a:avLst/>
              <a:gdLst/>
              <a:ahLst/>
              <a:cxnLst/>
              <a:rect r="r" b="b" t="t" l="l"/>
              <a:pathLst>
                <a:path h="521878" w="9400032">
                  <a:moveTo>
                    <a:pt x="0" y="0"/>
                  </a:moveTo>
                  <a:lnTo>
                    <a:pt x="9400032" y="0"/>
                  </a:lnTo>
                  <a:lnTo>
                    <a:pt x="9400032" y="521878"/>
                  </a:lnTo>
                  <a:lnTo>
                    <a:pt x="0" y="5218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903" r="0" b="-300023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9400032" cy="569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b="true" sz="1949">
                  <a:solidFill>
                    <a:srgbClr val="5E18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EXISTING SOLUTIONS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9240">
            <a:off x="9838553" y="2848166"/>
            <a:ext cx="7069103" cy="0"/>
          </a:xfrm>
          <a:prstGeom prst="line">
            <a:avLst/>
          </a:prstGeom>
          <a:ln cap="rnd" w="9525">
            <a:solidFill>
              <a:srgbClr val="F1D8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3" id="33"/>
          <p:cNvSpPr txBox="true"/>
          <p:nvPr/>
        </p:nvSpPr>
        <p:spPr>
          <a:xfrm rot="0">
            <a:off x="9939514" y="3057525"/>
            <a:ext cx="6867173" cy="260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3852" indent="-171926" lvl="1">
              <a:lnSpc>
                <a:spcPts val="2279"/>
              </a:lnSpc>
              <a:buFont typeface="Arial"/>
              <a:buChar char="•"/>
            </a:pPr>
            <a:r>
              <a:rPr lang="en-US" sz="1899" i="true">
                <a:solidFill>
                  <a:srgbClr val="6B4A4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Cla</a:t>
            </a:r>
            <a:r>
              <a:rPr lang="en-US" sz="1899" i="true">
                <a:solidFill>
                  <a:srgbClr val="6B4A4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ssical descriptors (SIFT, ASIFT, AKAZE, RIFT2)  robust to scale/rotation, but fail under strong shadow or sensor change.</a:t>
            </a:r>
          </a:p>
          <a:p>
            <a:pPr algn="l">
              <a:lnSpc>
                <a:spcPts val="2279"/>
              </a:lnSpc>
            </a:pPr>
          </a:p>
          <a:p>
            <a:pPr algn="l" marL="343852" indent="-171926" lvl="1">
              <a:lnSpc>
                <a:spcPts val="2279"/>
              </a:lnSpc>
              <a:buFont typeface="Arial"/>
              <a:buChar char="•"/>
            </a:pPr>
            <a:r>
              <a:rPr lang="en-US" sz="1899" i="true">
                <a:solidFill>
                  <a:srgbClr val="6B4A4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Learned matchers (SuperGlue, LoFTR)  accurate on Earth imagery, but trust every keypoint equally.</a:t>
            </a:r>
          </a:p>
          <a:p>
            <a:pPr algn="l">
              <a:lnSpc>
                <a:spcPts val="2279"/>
              </a:lnSpc>
            </a:pPr>
          </a:p>
          <a:p>
            <a:pPr algn="l" marL="343852" indent="-171926" lvl="1">
              <a:lnSpc>
                <a:spcPts val="2279"/>
              </a:lnSpc>
              <a:buFont typeface="Arial"/>
              <a:buChar char="•"/>
            </a:pPr>
            <a:r>
              <a:rPr lang="en-US" sz="1899" i="true">
                <a:solidFill>
                  <a:srgbClr val="6B4A4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PWIFT (2026)  illumination aware, still descriptor-level, not terrain-level.</a:t>
            </a:r>
          </a:p>
          <a:p>
            <a:pPr algn="l">
              <a:lnSpc>
                <a:spcPts val="2279"/>
              </a:lnSpc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9454515" y="5751195"/>
            <a:ext cx="7837170" cy="3585210"/>
            <a:chOff x="0" y="0"/>
            <a:chExt cx="10449560" cy="4780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49561" cy="4780280"/>
            </a:xfrm>
            <a:custGeom>
              <a:avLst/>
              <a:gdLst/>
              <a:ahLst/>
              <a:cxnLst/>
              <a:rect r="r" b="b" t="t" l="l"/>
              <a:pathLst>
                <a:path h="4780280" w="10449561">
                  <a:moveTo>
                    <a:pt x="0" y="165481"/>
                  </a:moveTo>
                  <a:cubicBezTo>
                    <a:pt x="0" y="74041"/>
                    <a:pt x="74041" y="0"/>
                    <a:pt x="165481" y="0"/>
                  </a:cubicBezTo>
                  <a:lnTo>
                    <a:pt x="10284079" y="0"/>
                  </a:lnTo>
                  <a:cubicBezTo>
                    <a:pt x="10375519" y="0"/>
                    <a:pt x="10449561" y="74041"/>
                    <a:pt x="10449561" y="165481"/>
                  </a:cubicBezTo>
                  <a:lnTo>
                    <a:pt x="10449561" y="4614799"/>
                  </a:lnTo>
                  <a:cubicBezTo>
                    <a:pt x="10449561" y="4706239"/>
                    <a:pt x="10375519" y="4780280"/>
                    <a:pt x="10284079" y="4780280"/>
                  </a:cubicBezTo>
                  <a:lnTo>
                    <a:pt x="165481" y="4780280"/>
                  </a:lnTo>
                  <a:cubicBezTo>
                    <a:pt x="74041" y="4780280"/>
                    <a:pt x="0" y="4706239"/>
                    <a:pt x="0" y="4614799"/>
                  </a:cubicBezTo>
                  <a:close/>
                </a:path>
              </a:pathLst>
            </a:custGeom>
            <a:solidFill>
              <a:srgbClr val="EFF7F1"/>
            </a:solidFill>
            <a:ln w="19050" cap="sq">
              <a:solidFill>
                <a:srgbClr val="CFE8D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9916668" y="6035040"/>
            <a:ext cx="7050024" cy="391408"/>
            <a:chOff x="0" y="0"/>
            <a:chExt cx="9400032" cy="52187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400032" cy="521878"/>
            </a:xfrm>
            <a:custGeom>
              <a:avLst/>
              <a:gdLst/>
              <a:ahLst/>
              <a:cxnLst/>
              <a:rect r="r" b="b" t="t" l="l"/>
              <a:pathLst>
                <a:path h="521878" w="9400032">
                  <a:moveTo>
                    <a:pt x="0" y="0"/>
                  </a:moveTo>
                  <a:lnTo>
                    <a:pt x="9400032" y="0"/>
                  </a:lnTo>
                  <a:lnTo>
                    <a:pt x="9400032" y="521878"/>
                  </a:lnTo>
                  <a:lnTo>
                    <a:pt x="0" y="52187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1903" r="0" b="-30002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9400032" cy="5695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b="true" sz="1949">
                  <a:solidFill>
                    <a:srgbClr val="1F5C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PROPOSED CONTRIBUTIONS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>
            <a:off x="9838566" y="6478168"/>
            <a:ext cx="7069077" cy="19000"/>
          </a:xfrm>
          <a:prstGeom prst="line">
            <a:avLst/>
          </a:prstGeom>
          <a:ln cap="rnd" w="9525">
            <a:solidFill>
              <a:srgbClr val="CFE8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9806940" y="6435305"/>
            <a:ext cx="6916912" cy="3083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6343" indent="-173171" lvl="1">
              <a:lnSpc>
                <a:spcPts val="2239"/>
              </a:lnSpc>
              <a:buFont typeface="Arial"/>
              <a:buChar char="•"/>
            </a:pPr>
            <a:r>
              <a:rPr lang="en-US" sz="1913" i="true">
                <a:solidFill>
                  <a:srgbClr val="436B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</a:t>
            </a:r>
            <a:r>
              <a:rPr lang="en-US" sz="1913" i="true">
                <a:solidFill>
                  <a:srgbClr val="436B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terrain-stability score learned from image structure, solar geometry, viewing geometry, scale and sensor identity computed before matching, not after.</a:t>
            </a:r>
          </a:p>
          <a:p>
            <a:pPr algn="l">
              <a:lnSpc>
                <a:spcPts val="2239"/>
              </a:lnSpc>
            </a:pPr>
          </a:p>
          <a:p>
            <a:pPr algn="l" marL="346343" indent="-173171" lvl="1">
              <a:lnSpc>
                <a:spcPts val="2239"/>
              </a:lnSpc>
              <a:buFont typeface="Arial"/>
              <a:buChar char="•"/>
            </a:pPr>
            <a:r>
              <a:rPr lang="en-US" sz="1913" i="true">
                <a:solidFill>
                  <a:srgbClr val="436B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Uncertainty is propagated end-to-end, so the final registration reports where it can and can't be trusted, instead of a single silent transform.</a:t>
            </a:r>
          </a:p>
          <a:p>
            <a:pPr algn="l">
              <a:lnSpc>
                <a:spcPts val="2239"/>
              </a:lnSpc>
            </a:pPr>
          </a:p>
          <a:p>
            <a:pPr algn="l" marL="346343" indent="-173171" lvl="1">
              <a:lnSpc>
                <a:spcPts val="2239"/>
              </a:lnSpc>
              <a:buFont typeface="Arial"/>
              <a:buChar char="•"/>
            </a:pPr>
            <a:r>
              <a:rPr lang="en-US" sz="1913" i="true">
                <a:solidFill>
                  <a:srgbClr val="436B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Stability gates matching directly, so unreliable terrain is down-weighted before it can produce a confident wrong answer.</a:t>
            </a:r>
          </a:p>
          <a:p>
            <a:pPr algn="l">
              <a:lnSpc>
                <a:spcPts val="2239"/>
              </a:lnSpc>
            </a:pPr>
          </a:p>
        </p:txBody>
      </p:sp>
      <p:grpSp>
        <p:nvGrpSpPr>
          <p:cNvPr name="Group 41" id="41"/>
          <p:cNvGrpSpPr/>
          <p:nvPr/>
        </p:nvGrpSpPr>
        <p:grpSpPr>
          <a:xfrm rot="0">
            <a:off x="13345668" y="9779508"/>
            <a:ext cx="4114800" cy="411480"/>
            <a:chOff x="0" y="0"/>
            <a:chExt cx="5486400" cy="548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03 of 08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3960">
            <a:off x="813425" y="9706166"/>
            <a:ext cx="16656568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822960" y="9779508"/>
            <a:ext cx="13030200" cy="411480"/>
            <a:chOff x="0" y="0"/>
            <a:chExt cx="1737360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737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17373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IITM BS Degree Programme</a:t>
              </a: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- Alibaba and 6 devs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810512" y="2427732"/>
            <a:ext cx="6172200" cy="493776"/>
            <a:chOff x="0" y="0"/>
            <a:chExt cx="8229600" cy="6583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229600" cy="658368"/>
            </a:xfrm>
            <a:custGeom>
              <a:avLst/>
              <a:gdLst/>
              <a:ahLst/>
              <a:cxnLst/>
              <a:rect r="r" b="b" t="t" l="l"/>
              <a:pathLst>
                <a:path h="65836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28575"/>
              <a:ext cx="82296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RESEARCH LANDSCAPE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1054" y="619030"/>
            <a:ext cx="572452" cy="572452"/>
            <a:chOff x="0" y="0"/>
            <a:chExt cx="763270" cy="763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3270" cy="763270"/>
            </a:xfrm>
            <a:custGeom>
              <a:avLst/>
              <a:gdLst/>
              <a:ahLst/>
              <a:cxnLst/>
              <a:rect r="r" b="b" t="t" l="l"/>
              <a:pathLst>
                <a:path h="763270" w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30936"/>
            <a:ext cx="548640" cy="548640"/>
            <a:chOff x="0" y="0"/>
            <a:chExt cx="7315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77340" y="603504"/>
            <a:ext cx="8229600" cy="356616"/>
            <a:chOff x="0" y="0"/>
            <a:chExt cx="10972800" cy="475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7280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04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56035" y="1179576"/>
            <a:ext cx="8192479" cy="8233647"/>
          </a:xfrm>
          <a:custGeom>
            <a:avLst/>
            <a:gdLst/>
            <a:ahLst/>
            <a:cxnLst/>
            <a:rect r="r" b="b" t="t" l="l"/>
            <a:pathLst>
              <a:path h="8233647" w="8192479">
                <a:moveTo>
                  <a:pt x="0" y="0"/>
                </a:moveTo>
                <a:lnTo>
                  <a:pt x="8192479" y="0"/>
                </a:lnTo>
                <a:lnTo>
                  <a:pt x="8192479" y="8233647"/>
                </a:lnTo>
                <a:lnTo>
                  <a:pt x="0" y="8233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77340" y="932688"/>
            <a:ext cx="14264640" cy="822960"/>
            <a:chOff x="0" y="0"/>
            <a:chExt cx="1901952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19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90195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Technical Approach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58628" y="424624"/>
            <a:ext cx="1016127" cy="1016127"/>
            <a:chOff x="0" y="0"/>
            <a:chExt cx="1354836" cy="13548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836" cy="1354836"/>
            </a:xfrm>
            <a:custGeom>
              <a:avLst/>
              <a:gdLst/>
              <a:ahLst/>
              <a:cxnLst/>
              <a:rect r="r" b="b" t="t" l="l"/>
              <a:pathLst>
                <a:path h="1354836" w="1354836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cubicBezTo>
                    <a:pt x="1051560" y="0"/>
                    <a:pt x="1354836" y="303276"/>
                    <a:pt x="1354836" y="677418"/>
                  </a:cubicBezTo>
                  <a:cubicBezTo>
                    <a:pt x="1354836" y="1051560"/>
                    <a:pt x="1051560" y="1354836"/>
                    <a:pt x="677418" y="1354836"/>
                  </a:cubicBezTo>
                  <a:cubicBezTo>
                    <a:pt x="303276" y="1354836"/>
                    <a:pt x="0" y="1051560"/>
                    <a:pt x="0" y="67741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596360" y="562356"/>
            <a:ext cx="740664" cy="740664"/>
            <a:chOff x="0" y="0"/>
            <a:chExt cx="987552" cy="987552"/>
          </a:xfrm>
        </p:grpSpPr>
        <p:sp>
          <p:nvSpPr>
            <p:cNvPr name="Freeform 17" id="17" descr="/home/claude/work/iitm_bs_logo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13435" y="2116455"/>
            <a:ext cx="7562850" cy="7219950"/>
            <a:chOff x="0" y="0"/>
            <a:chExt cx="10083800" cy="9626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83800" cy="9626600"/>
            </a:xfrm>
            <a:custGeom>
              <a:avLst/>
              <a:gdLst/>
              <a:ahLst/>
              <a:cxnLst/>
              <a:rect r="r" b="b" t="t" l="l"/>
              <a:pathLst>
                <a:path h="9626600" w="10083800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9918827" y="0"/>
                  </a:lnTo>
                  <a:cubicBezTo>
                    <a:pt x="10009886" y="0"/>
                    <a:pt x="10083800" y="73914"/>
                    <a:pt x="10083800" y="164973"/>
                  </a:cubicBezTo>
                  <a:lnTo>
                    <a:pt x="10083800" y="9461627"/>
                  </a:lnTo>
                  <a:cubicBezTo>
                    <a:pt x="10083800" y="9552813"/>
                    <a:pt x="10009886" y="9626600"/>
                    <a:pt x="9918827" y="9626600"/>
                  </a:cubicBezTo>
                  <a:lnTo>
                    <a:pt x="164973" y="9626600"/>
                  </a:lnTo>
                  <a:cubicBezTo>
                    <a:pt x="73914" y="9626600"/>
                    <a:pt x="0" y="9552686"/>
                    <a:pt x="0" y="9461627"/>
                  </a:cubicBezTo>
                  <a:close/>
                </a:path>
              </a:pathLst>
            </a:custGeom>
            <a:solidFill>
              <a:srgbClr val="FBF7EA"/>
            </a:solidFill>
            <a:ln w="19050" cap="sq">
              <a:solidFill>
                <a:srgbClr val="E9DFC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52144" y="2427732"/>
            <a:ext cx="493776" cy="493776"/>
            <a:chOff x="0" y="0"/>
            <a:chExt cx="658368" cy="6583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D6A64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52144" y="2427732"/>
            <a:ext cx="493776" cy="493776"/>
            <a:chOff x="0" y="0"/>
            <a:chExt cx="658368" cy="6583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58368" cy="715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121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20043" y="2445752"/>
            <a:ext cx="6172200" cy="493776"/>
            <a:chOff x="0" y="0"/>
            <a:chExt cx="8229600" cy="6583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9600" cy="658368"/>
            </a:xfrm>
            <a:custGeom>
              <a:avLst/>
              <a:gdLst/>
              <a:ahLst/>
              <a:cxnLst/>
              <a:rect r="r" b="b" t="t" l="l"/>
              <a:pathLst>
                <a:path h="65836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8229600" cy="7059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39"/>
                </a:lnSpc>
              </a:pPr>
              <a:r>
                <a:rPr lang="en-US" b="true" sz="1949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PIPELINE OVERVIEW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 rot="9660">
            <a:off x="1197473" y="3136202"/>
            <a:ext cx="6794783" cy="0"/>
          </a:xfrm>
          <a:prstGeom prst="line">
            <a:avLst/>
          </a:prstGeom>
          <a:ln cap="rnd" w="9525">
            <a:solidFill>
              <a:srgbClr val="E9DFC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1298429" y="3244196"/>
            <a:ext cx="6592853" cy="5833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7425" indent="-178713" lvl="1">
              <a:lnSpc>
                <a:spcPts val="3535"/>
              </a:lnSpc>
              <a:buFont typeface="Arial"/>
              <a:buChar char="•"/>
            </a:pPr>
            <a:r>
              <a:rPr lang="en-US" sz="1974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Raw imagery + metadata are radiometrically and geometrically normalized before anything else touches them.</a:t>
            </a:r>
          </a:p>
          <a:p>
            <a:pPr algn="l" marL="357425" indent="-178713" lvl="1">
              <a:lnSpc>
                <a:spcPts val="3535"/>
              </a:lnSpc>
              <a:buFont typeface="Arial"/>
              <a:buChar char="•"/>
            </a:pPr>
            <a:r>
              <a:rPr lang="en-US" sz="1974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A Terrain Stability Estimator scores each candidate region using visual structure, illumination, viewing geometry and scale.</a:t>
            </a:r>
          </a:p>
          <a:p>
            <a:pPr algn="l" marL="357425" indent="-178713" lvl="1">
              <a:lnSpc>
                <a:spcPts val="3535"/>
              </a:lnSpc>
              <a:buFont typeface="Arial"/>
              <a:buChar char="•"/>
            </a:pPr>
            <a:r>
              <a:rPr lang="en-US" sz="1974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A Multimodal Terrain Encoder maps OHRC, TMC-2, IIRS and LROC into one shared, modality-conditioned representation.</a:t>
            </a:r>
          </a:p>
          <a:p>
            <a:pPr algn="l" marL="357425" indent="-178713" lvl="1">
              <a:lnSpc>
                <a:spcPts val="3535"/>
              </a:lnSpc>
              <a:buFont typeface="Arial"/>
              <a:buChar char="•"/>
            </a:pPr>
            <a:r>
              <a:rPr lang="en-US" sz="1974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Coarse-to-fine search, spatially-diverse geometric verification and sub-pixel refinement follow, all weighted by predicted uncertainty.</a:t>
            </a:r>
          </a:p>
          <a:p>
            <a:pPr algn="l" marL="357425" indent="-178713" lvl="1">
              <a:lnSpc>
                <a:spcPts val="3535"/>
              </a:lnSpc>
              <a:buFont typeface="Arial"/>
              <a:buChar char="•"/>
            </a:pPr>
            <a:r>
              <a:rPr lang="en-US" sz="1974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Output: registered imagery + tie points + a per-point confidence score, never a silent "best guess."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464163" y="2167128"/>
            <a:ext cx="7827522" cy="384510"/>
            <a:chOff x="0" y="0"/>
            <a:chExt cx="10424160" cy="5120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24160" cy="512064"/>
            </a:xfrm>
            <a:custGeom>
              <a:avLst/>
              <a:gdLst/>
              <a:ahLst/>
              <a:cxnLst/>
              <a:rect r="r" b="b" t="t" l="l"/>
              <a:pathLst>
                <a:path h="512064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6659" r="0" b="-34665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104241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PIPELINE — 5 STAGES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62132" y="2768840"/>
            <a:ext cx="654601" cy="654601"/>
            <a:chOff x="0" y="0"/>
            <a:chExt cx="871753" cy="87175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71728" cy="871728"/>
            </a:xfrm>
            <a:custGeom>
              <a:avLst/>
              <a:gdLst/>
              <a:ahLst/>
              <a:cxnLst/>
              <a:rect r="r" b="b" t="t" l="l"/>
              <a:pathLst>
                <a:path h="871728" w="871728">
                  <a:moveTo>
                    <a:pt x="0" y="435864"/>
                  </a:moveTo>
                  <a:cubicBezTo>
                    <a:pt x="0" y="195199"/>
                    <a:pt x="195199" y="0"/>
                    <a:pt x="435864" y="0"/>
                  </a:cubicBezTo>
                  <a:cubicBezTo>
                    <a:pt x="676529" y="0"/>
                    <a:pt x="871728" y="195199"/>
                    <a:pt x="871728" y="435864"/>
                  </a:cubicBezTo>
                  <a:cubicBezTo>
                    <a:pt x="871728" y="676529"/>
                    <a:pt x="676656" y="871728"/>
                    <a:pt x="435864" y="871728"/>
                  </a:cubicBezTo>
                  <a:cubicBezTo>
                    <a:pt x="195072" y="871728"/>
                    <a:pt x="0" y="676656"/>
                    <a:pt x="0" y="435864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871753" cy="890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635573" y="2675640"/>
            <a:ext cx="6430842" cy="841010"/>
            <a:chOff x="0" y="0"/>
            <a:chExt cx="8564156" cy="11200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564160" cy="1120000"/>
            </a:xfrm>
            <a:custGeom>
              <a:avLst/>
              <a:gdLst/>
              <a:ahLst/>
              <a:cxnLst/>
              <a:rect r="r" b="b" t="t" l="l"/>
              <a:pathLst>
                <a:path h="1120000" w="8564160">
                  <a:moveTo>
                    <a:pt x="0" y="0"/>
                  </a:moveTo>
                  <a:lnTo>
                    <a:pt x="8564160" y="0"/>
                  </a:lnTo>
                  <a:lnTo>
                    <a:pt x="8564160" y="1120000"/>
                  </a:lnTo>
                  <a:lnTo>
                    <a:pt x="0" y="112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93" r="0" b="-9899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8564156" cy="1158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Ingestion</a:t>
              </a:r>
            </a:p>
            <a:p>
              <a:pPr algn="l">
                <a:lnSpc>
                  <a:spcPts val="2116"/>
                </a:lnSpc>
              </a:pPr>
              <a:r>
                <a:rPr lang="en-US" sz="1575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Normalizes OHRC, TMC-2, IIRS and LROC imagery radiometrically and geometrically.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812672" y="3760031"/>
            <a:ext cx="654601" cy="654601"/>
            <a:chOff x="0" y="0"/>
            <a:chExt cx="871753" cy="87175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71728" cy="871728"/>
            </a:xfrm>
            <a:custGeom>
              <a:avLst/>
              <a:gdLst/>
              <a:ahLst/>
              <a:cxnLst/>
              <a:rect r="r" b="b" t="t" l="l"/>
              <a:pathLst>
                <a:path h="871728" w="871728">
                  <a:moveTo>
                    <a:pt x="0" y="435864"/>
                  </a:moveTo>
                  <a:cubicBezTo>
                    <a:pt x="0" y="195199"/>
                    <a:pt x="195199" y="0"/>
                    <a:pt x="435864" y="0"/>
                  </a:cubicBezTo>
                  <a:cubicBezTo>
                    <a:pt x="676529" y="0"/>
                    <a:pt x="871728" y="195199"/>
                    <a:pt x="871728" y="435864"/>
                  </a:cubicBezTo>
                  <a:cubicBezTo>
                    <a:pt x="871728" y="676529"/>
                    <a:pt x="676656" y="871728"/>
                    <a:pt x="435864" y="871728"/>
                  </a:cubicBezTo>
                  <a:cubicBezTo>
                    <a:pt x="195072" y="871728"/>
                    <a:pt x="0" y="676656"/>
                    <a:pt x="0" y="435864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871753" cy="890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0635573" y="3666831"/>
            <a:ext cx="6430842" cy="841010"/>
            <a:chOff x="0" y="0"/>
            <a:chExt cx="8564156" cy="11200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564160" cy="1120000"/>
            </a:xfrm>
            <a:custGeom>
              <a:avLst/>
              <a:gdLst/>
              <a:ahLst/>
              <a:cxnLst/>
              <a:rect r="r" b="b" t="t" l="l"/>
              <a:pathLst>
                <a:path h="1120000" w="8564160">
                  <a:moveTo>
                    <a:pt x="0" y="0"/>
                  </a:moveTo>
                  <a:lnTo>
                    <a:pt x="8564160" y="0"/>
                  </a:lnTo>
                  <a:lnTo>
                    <a:pt x="8564160" y="1120000"/>
                  </a:lnTo>
                  <a:lnTo>
                    <a:pt x="0" y="112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93" r="0" b="-9899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564156" cy="1158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Stability Scoring</a:t>
              </a:r>
            </a:p>
            <a:p>
              <a:pPr algn="l">
                <a:lnSpc>
                  <a:spcPts val="2116"/>
                </a:lnSpc>
              </a:pPr>
              <a:r>
                <a:rPr lang="en-US" sz="1575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Physics-guided model scores terrain reliability from illumination, geometry &amp; scale.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362132" y="4751221"/>
            <a:ext cx="654601" cy="654601"/>
            <a:chOff x="0" y="0"/>
            <a:chExt cx="871753" cy="87175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71728" cy="871728"/>
            </a:xfrm>
            <a:custGeom>
              <a:avLst/>
              <a:gdLst/>
              <a:ahLst/>
              <a:cxnLst/>
              <a:rect r="r" b="b" t="t" l="l"/>
              <a:pathLst>
                <a:path h="871728" w="871728">
                  <a:moveTo>
                    <a:pt x="0" y="435864"/>
                  </a:moveTo>
                  <a:cubicBezTo>
                    <a:pt x="0" y="195199"/>
                    <a:pt x="195199" y="0"/>
                    <a:pt x="435864" y="0"/>
                  </a:cubicBezTo>
                  <a:cubicBezTo>
                    <a:pt x="676529" y="0"/>
                    <a:pt x="871728" y="195199"/>
                    <a:pt x="871728" y="435864"/>
                  </a:cubicBezTo>
                  <a:cubicBezTo>
                    <a:pt x="871728" y="676529"/>
                    <a:pt x="676656" y="871728"/>
                    <a:pt x="435864" y="871728"/>
                  </a:cubicBezTo>
                  <a:cubicBezTo>
                    <a:pt x="195072" y="871728"/>
                    <a:pt x="0" y="676656"/>
                    <a:pt x="0" y="435864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871753" cy="890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0635573" y="4658021"/>
            <a:ext cx="6430842" cy="841010"/>
            <a:chOff x="0" y="0"/>
            <a:chExt cx="8564156" cy="1120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564160" cy="1120000"/>
            </a:xfrm>
            <a:custGeom>
              <a:avLst/>
              <a:gdLst/>
              <a:ahLst/>
              <a:cxnLst/>
              <a:rect r="r" b="b" t="t" l="l"/>
              <a:pathLst>
                <a:path h="1120000" w="8564160">
                  <a:moveTo>
                    <a:pt x="0" y="0"/>
                  </a:moveTo>
                  <a:lnTo>
                    <a:pt x="8564160" y="0"/>
                  </a:lnTo>
                  <a:lnTo>
                    <a:pt x="8564160" y="1120000"/>
                  </a:lnTo>
                  <a:lnTo>
                    <a:pt x="0" y="112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93" r="0" b="-9899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564156" cy="1158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Match &amp; Verify</a:t>
              </a:r>
            </a:p>
            <a:p>
              <a:pPr algn="l">
                <a:lnSpc>
                  <a:spcPts val="2116"/>
                </a:lnSpc>
              </a:pPr>
              <a:r>
                <a:rPr lang="en-US" sz="1575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Coarse-to-fine matching with spatially-diverse geometric verification.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812672" y="5742412"/>
            <a:ext cx="654601" cy="654601"/>
            <a:chOff x="0" y="0"/>
            <a:chExt cx="871753" cy="871753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71728" cy="871728"/>
            </a:xfrm>
            <a:custGeom>
              <a:avLst/>
              <a:gdLst/>
              <a:ahLst/>
              <a:cxnLst/>
              <a:rect r="r" b="b" t="t" l="l"/>
              <a:pathLst>
                <a:path h="871728" w="871728">
                  <a:moveTo>
                    <a:pt x="0" y="435864"/>
                  </a:moveTo>
                  <a:cubicBezTo>
                    <a:pt x="0" y="195199"/>
                    <a:pt x="195199" y="0"/>
                    <a:pt x="435864" y="0"/>
                  </a:cubicBezTo>
                  <a:cubicBezTo>
                    <a:pt x="676529" y="0"/>
                    <a:pt x="871728" y="195199"/>
                    <a:pt x="871728" y="435864"/>
                  </a:cubicBezTo>
                  <a:cubicBezTo>
                    <a:pt x="871728" y="676529"/>
                    <a:pt x="676656" y="871728"/>
                    <a:pt x="435864" y="871728"/>
                  </a:cubicBezTo>
                  <a:cubicBezTo>
                    <a:pt x="195072" y="871728"/>
                    <a:pt x="0" y="676656"/>
                    <a:pt x="0" y="435864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871753" cy="890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635573" y="5649212"/>
            <a:ext cx="6430842" cy="841010"/>
            <a:chOff x="0" y="0"/>
            <a:chExt cx="8564156" cy="11200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564160" cy="1120000"/>
            </a:xfrm>
            <a:custGeom>
              <a:avLst/>
              <a:gdLst/>
              <a:ahLst/>
              <a:cxnLst/>
              <a:rect r="r" b="b" t="t" l="l"/>
              <a:pathLst>
                <a:path h="1120000" w="8564160">
                  <a:moveTo>
                    <a:pt x="0" y="0"/>
                  </a:moveTo>
                  <a:lnTo>
                    <a:pt x="8564160" y="0"/>
                  </a:lnTo>
                  <a:lnTo>
                    <a:pt x="8564160" y="1120000"/>
                  </a:lnTo>
                  <a:lnTo>
                    <a:pt x="0" y="112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93" r="0" b="-98993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8564156" cy="1158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Uncertainty Refinement</a:t>
              </a:r>
            </a:p>
            <a:p>
              <a:pPr algn="l">
                <a:lnSpc>
                  <a:spcPts val="2116"/>
                </a:lnSpc>
              </a:pPr>
              <a:r>
                <a:rPr lang="en-US" sz="1575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Sub-pixel refinement weighted by predicted confidence.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362132" y="6733602"/>
            <a:ext cx="654601" cy="654601"/>
            <a:chOff x="0" y="0"/>
            <a:chExt cx="871753" cy="87175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71728" cy="871728"/>
            </a:xfrm>
            <a:custGeom>
              <a:avLst/>
              <a:gdLst/>
              <a:ahLst/>
              <a:cxnLst/>
              <a:rect r="r" b="b" t="t" l="l"/>
              <a:pathLst>
                <a:path h="871728" w="871728">
                  <a:moveTo>
                    <a:pt x="0" y="435864"/>
                  </a:moveTo>
                  <a:cubicBezTo>
                    <a:pt x="0" y="195199"/>
                    <a:pt x="195199" y="0"/>
                    <a:pt x="435864" y="0"/>
                  </a:cubicBezTo>
                  <a:cubicBezTo>
                    <a:pt x="676529" y="0"/>
                    <a:pt x="871728" y="195199"/>
                    <a:pt x="871728" y="435864"/>
                  </a:cubicBezTo>
                  <a:cubicBezTo>
                    <a:pt x="871728" y="676529"/>
                    <a:pt x="676656" y="871728"/>
                    <a:pt x="435864" y="871728"/>
                  </a:cubicBezTo>
                  <a:cubicBezTo>
                    <a:pt x="195072" y="871728"/>
                    <a:pt x="0" y="676656"/>
                    <a:pt x="0" y="435864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871753" cy="8908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b="true" sz="2100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635573" y="6640403"/>
            <a:ext cx="6430842" cy="841010"/>
            <a:chOff x="0" y="0"/>
            <a:chExt cx="8564156" cy="11200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564160" cy="1120000"/>
            </a:xfrm>
            <a:custGeom>
              <a:avLst/>
              <a:gdLst/>
              <a:ahLst/>
              <a:cxnLst/>
              <a:rect r="r" b="b" t="t" l="l"/>
              <a:pathLst>
                <a:path h="1120000" w="8564160">
                  <a:moveTo>
                    <a:pt x="0" y="0"/>
                  </a:moveTo>
                  <a:lnTo>
                    <a:pt x="8564160" y="0"/>
                  </a:lnTo>
                  <a:lnTo>
                    <a:pt x="8564160" y="1120000"/>
                  </a:lnTo>
                  <a:lnTo>
                    <a:pt x="0" y="1120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993" r="0" b="-9899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8564156" cy="1158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Delivery</a:t>
              </a:r>
            </a:p>
            <a:p>
              <a:pPr algn="l">
                <a:lnSpc>
                  <a:spcPts val="2116"/>
                </a:lnSpc>
              </a:pPr>
              <a:r>
                <a:rPr lang="en-US" sz="1575">
                  <a:solidFill>
                    <a:srgbClr val="4A4A4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Registered imagery, tie points and confidence scores reach mission teams.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>
            <a:off x="9674754" y="3395741"/>
            <a:ext cx="478570" cy="388576"/>
          </a:xfrm>
          <a:prstGeom prst="line">
            <a:avLst/>
          </a:prstGeom>
          <a:ln cap="rnd" w="19050">
            <a:solidFill>
              <a:srgbClr val="D6A6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4" id="64"/>
          <p:cNvSpPr/>
          <p:nvPr/>
        </p:nvSpPr>
        <p:spPr>
          <a:xfrm flipH="true">
            <a:off x="9674754" y="4385741"/>
            <a:ext cx="478570" cy="388576"/>
          </a:xfrm>
          <a:prstGeom prst="line">
            <a:avLst/>
          </a:prstGeom>
          <a:ln cap="rnd" w="19050">
            <a:solidFill>
              <a:srgbClr val="D6A6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5" id="65"/>
          <p:cNvSpPr/>
          <p:nvPr/>
        </p:nvSpPr>
        <p:spPr>
          <a:xfrm>
            <a:off x="9674754" y="5375741"/>
            <a:ext cx="478570" cy="388576"/>
          </a:xfrm>
          <a:prstGeom prst="line">
            <a:avLst/>
          </a:prstGeom>
          <a:ln cap="rnd" w="19050">
            <a:solidFill>
              <a:srgbClr val="D6A64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6" id="66"/>
          <p:cNvSpPr/>
          <p:nvPr/>
        </p:nvSpPr>
        <p:spPr>
          <a:xfrm flipH="true">
            <a:off x="9674754" y="6365741"/>
            <a:ext cx="478570" cy="388576"/>
          </a:xfrm>
          <a:prstGeom prst="line">
            <a:avLst/>
          </a:prstGeom>
          <a:ln cap="rnd" w="19050">
            <a:solidFill>
              <a:srgbClr val="D6A64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7" id="67"/>
          <p:cNvGrpSpPr/>
          <p:nvPr/>
        </p:nvGrpSpPr>
        <p:grpSpPr>
          <a:xfrm rot="0">
            <a:off x="8892730" y="7605238"/>
            <a:ext cx="8582025" cy="2056724"/>
            <a:chOff x="0" y="0"/>
            <a:chExt cx="11442700" cy="2742299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1442700" cy="2742211"/>
            </a:xfrm>
            <a:custGeom>
              <a:avLst/>
              <a:gdLst/>
              <a:ahLst/>
              <a:cxnLst/>
              <a:rect r="r" b="b" t="t" l="l"/>
              <a:pathLst>
                <a:path h="2742211" w="11442700">
                  <a:moveTo>
                    <a:pt x="0" y="164498"/>
                  </a:moveTo>
                  <a:cubicBezTo>
                    <a:pt x="0" y="73595"/>
                    <a:pt x="70370" y="0"/>
                    <a:pt x="157288" y="0"/>
                  </a:cubicBezTo>
                  <a:lnTo>
                    <a:pt x="11285411" y="0"/>
                  </a:lnTo>
                  <a:cubicBezTo>
                    <a:pt x="11372331" y="0"/>
                    <a:pt x="11442700" y="73595"/>
                    <a:pt x="11442700" y="164498"/>
                  </a:cubicBezTo>
                  <a:lnTo>
                    <a:pt x="11442700" y="2577714"/>
                  </a:lnTo>
                  <a:cubicBezTo>
                    <a:pt x="11442700" y="2668616"/>
                    <a:pt x="11372331" y="2742211"/>
                    <a:pt x="11285411" y="2742211"/>
                  </a:cubicBezTo>
                  <a:lnTo>
                    <a:pt x="157288" y="2742211"/>
                  </a:lnTo>
                  <a:cubicBezTo>
                    <a:pt x="70370" y="2742350"/>
                    <a:pt x="0" y="2668616"/>
                    <a:pt x="0" y="2577714"/>
                  </a:cubicBezTo>
                  <a:close/>
                </a:path>
              </a:pathLst>
            </a:custGeom>
            <a:solidFill>
              <a:srgbClr val="F5F6FA"/>
            </a:solidFill>
            <a:ln w="19050" cap="sq">
              <a:solidFill>
                <a:srgbClr val="E7E9F0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8975026" y="7669972"/>
            <a:ext cx="7050024" cy="342900"/>
            <a:chOff x="0" y="0"/>
            <a:chExt cx="9400032" cy="4572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400032" cy="457200"/>
            </a:xfrm>
            <a:custGeom>
              <a:avLst/>
              <a:gdLst/>
              <a:ahLst/>
              <a:cxnLst/>
              <a:rect r="r" b="b" t="t" l="l"/>
              <a:pathLst>
                <a:path h="457200" w="9400032">
                  <a:moveTo>
                    <a:pt x="0" y="0"/>
                  </a:moveTo>
                  <a:lnTo>
                    <a:pt x="9400032" y="0"/>
                  </a:lnTo>
                  <a:lnTo>
                    <a:pt x="9400032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0612" r="0" b="-35061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9400032" cy="49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</a:t>
              </a:r>
            </a:p>
          </p:txBody>
        </p:sp>
      </p:grpSp>
      <p:sp>
        <p:nvSpPr>
          <p:cNvPr name="AutoShape 72" id="72"/>
          <p:cNvSpPr/>
          <p:nvPr/>
        </p:nvSpPr>
        <p:spPr>
          <a:xfrm rot="9239">
            <a:off x="9838553" y="8094916"/>
            <a:ext cx="7069103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3" id="73"/>
          <p:cNvSpPr txBox="true"/>
          <p:nvPr/>
        </p:nvSpPr>
        <p:spPr>
          <a:xfrm rot="0">
            <a:off x="9006443" y="7986183"/>
            <a:ext cx="8143320" cy="1239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0324" indent="-165162" lvl="1">
              <a:lnSpc>
                <a:spcPts val="2423"/>
              </a:lnSpc>
              <a:buFont typeface="Arial"/>
              <a:buChar char="•"/>
            </a:pPr>
            <a:r>
              <a:rPr lang="en-US" b="true" sz="1529" i="true">
                <a:solidFill>
                  <a:srgbClr val="666B74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Ge</a:t>
            </a:r>
            <a:r>
              <a:rPr lang="en-US" b="true" sz="1529" i="true">
                <a:solidFill>
                  <a:srgbClr val="666B74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ospatial &amp; Data:</a:t>
            </a:r>
            <a:r>
              <a:rPr lang="en-US" sz="1529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PDS4/PRADAN APIs, SPICE Kernels, GDAL, SQLite</a:t>
            </a:r>
          </a:p>
          <a:p>
            <a:pPr algn="l" marL="330324" indent="-165162" lvl="1">
              <a:lnSpc>
                <a:spcPts val="2423"/>
              </a:lnSpc>
              <a:buFont typeface="Arial"/>
              <a:buChar char="•"/>
            </a:pPr>
            <a:r>
              <a:rPr lang="en-US" b="true" sz="1529" i="true">
                <a:solidFill>
                  <a:srgbClr val="666B74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Deep Learning &amp; Vision:</a:t>
            </a:r>
            <a:r>
              <a:rPr lang="en-US" sz="1529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PyTorch, OpenCV, LoFTR/SuperGlue, Contrastive Encoders</a:t>
            </a:r>
          </a:p>
          <a:p>
            <a:pPr algn="l" marL="330324" indent="-165162" lvl="1">
              <a:lnSpc>
                <a:spcPts val="2423"/>
              </a:lnSpc>
              <a:buFont typeface="Arial"/>
              <a:buChar char="•"/>
            </a:pPr>
            <a:r>
              <a:rPr lang="en-US" b="true" sz="1529" i="true">
                <a:solidFill>
                  <a:srgbClr val="666B74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Pipeline &amp; Compute:</a:t>
            </a:r>
            <a:r>
              <a:rPr lang="en-US" sz="1529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Python, HDF5 (Tensors), SQLite (Metadata), RANSAC, GPU-accelerated Tiling</a:t>
            </a:r>
          </a:p>
          <a:p>
            <a:pPr algn="l" marL="330324" indent="-165162" lvl="1">
              <a:lnSpc>
                <a:spcPts val="2423"/>
              </a:lnSpc>
              <a:buFont typeface="Arial"/>
              <a:buChar char="•"/>
            </a:pPr>
            <a:r>
              <a:rPr lang="en-US" b="true" sz="1529" i="true">
                <a:solidFill>
                  <a:srgbClr val="666B74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Frontend &amp; Visualization:</a:t>
            </a:r>
            <a:r>
              <a:rPr lang="en-US" sz="1529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React, D3.js , Tailwind CSS, Canva.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13345668" y="9779508"/>
            <a:ext cx="4114800" cy="411480"/>
            <a:chOff x="0" y="0"/>
            <a:chExt cx="5486400" cy="5486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04 of 08</a:t>
              </a:r>
            </a:p>
          </p:txBody>
        </p:sp>
      </p:grpSp>
      <p:sp>
        <p:nvSpPr>
          <p:cNvPr name="AutoShape 77" id="77"/>
          <p:cNvSpPr/>
          <p:nvPr/>
        </p:nvSpPr>
        <p:spPr>
          <a:xfrm rot="3959">
            <a:off x="813425" y="9706166"/>
            <a:ext cx="16656568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8" id="78"/>
          <p:cNvGrpSpPr/>
          <p:nvPr/>
        </p:nvGrpSpPr>
        <p:grpSpPr>
          <a:xfrm rot="0">
            <a:off x="822960" y="9779508"/>
            <a:ext cx="13030200" cy="411480"/>
            <a:chOff x="0" y="0"/>
            <a:chExt cx="17373600" cy="5486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737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28575"/>
              <a:ext cx="17373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IITM BS Degree Programme</a:t>
              </a: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- Alibaba and 6 devs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1054" y="619030"/>
            <a:ext cx="572452" cy="572452"/>
            <a:chOff x="0" y="0"/>
            <a:chExt cx="763270" cy="763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3270" cy="763270"/>
            </a:xfrm>
            <a:custGeom>
              <a:avLst/>
              <a:gdLst/>
              <a:ahLst/>
              <a:cxnLst/>
              <a:rect r="r" b="b" t="t" l="l"/>
              <a:pathLst>
                <a:path h="763270" w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30936"/>
            <a:ext cx="548640" cy="548640"/>
            <a:chOff x="0" y="0"/>
            <a:chExt cx="7315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77340" y="603504"/>
            <a:ext cx="8229600" cy="356616"/>
            <a:chOff x="0" y="0"/>
            <a:chExt cx="10972800" cy="475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7280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05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56035" y="1179576"/>
            <a:ext cx="8192479" cy="8233647"/>
          </a:xfrm>
          <a:custGeom>
            <a:avLst/>
            <a:gdLst/>
            <a:ahLst/>
            <a:cxnLst/>
            <a:rect r="r" b="b" t="t" l="l"/>
            <a:pathLst>
              <a:path h="8233647" w="8192479">
                <a:moveTo>
                  <a:pt x="0" y="0"/>
                </a:moveTo>
                <a:lnTo>
                  <a:pt x="8192479" y="0"/>
                </a:lnTo>
                <a:lnTo>
                  <a:pt x="8192479" y="8233647"/>
                </a:lnTo>
                <a:lnTo>
                  <a:pt x="0" y="8233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77340" y="932688"/>
            <a:ext cx="14264640" cy="822960"/>
            <a:chOff x="0" y="0"/>
            <a:chExt cx="1901952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19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90195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Feasibility and Viability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58628" y="424624"/>
            <a:ext cx="1016127" cy="1016127"/>
            <a:chOff x="0" y="0"/>
            <a:chExt cx="1354836" cy="13548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836" cy="1354836"/>
            </a:xfrm>
            <a:custGeom>
              <a:avLst/>
              <a:gdLst/>
              <a:ahLst/>
              <a:cxnLst/>
              <a:rect r="r" b="b" t="t" l="l"/>
              <a:pathLst>
                <a:path h="1354836" w="1354836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cubicBezTo>
                    <a:pt x="1051560" y="0"/>
                    <a:pt x="1354836" y="303276"/>
                    <a:pt x="1354836" y="677418"/>
                  </a:cubicBezTo>
                  <a:cubicBezTo>
                    <a:pt x="1354836" y="1051560"/>
                    <a:pt x="1051560" y="1354836"/>
                    <a:pt x="677418" y="1354836"/>
                  </a:cubicBezTo>
                  <a:cubicBezTo>
                    <a:pt x="303276" y="1354836"/>
                    <a:pt x="0" y="1051560"/>
                    <a:pt x="0" y="67741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596360" y="562356"/>
            <a:ext cx="740664" cy="740664"/>
            <a:chOff x="0" y="0"/>
            <a:chExt cx="987552" cy="987552"/>
          </a:xfrm>
        </p:grpSpPr>
        <p:sp>
          <p:nvSpPr>
            <p:cNvPr name="Freeform 17" id="17" descr="/home/claude/work/iitm_bs_logo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13435" y="2116455"/>
            <a:ext cx="7562850" cy="7219950"/>
            <a:chOff x="0" y="0"/>
            <a:chExt cx="10083800" cy="9626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83800" cy="9626600"/>
            </a:xfrm>
            <a:custGeom>
              <a:avLst/>
              <a:gdLst/>
              <a:ahLst/>
              <a:cxnLst/>
              <a:rect r="r" b="b" t="t" l="l"/>
              <a:pathLst>
                <a:path h="9626600" w="10083800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9918827" y="0"/>
                  </a:lnTo>
                  <a:cubicBezTo>
                    <a:pt x="10009886" y="0"/>
                    <a:pt x="10083800" y="73914"/>
                    <a:pt x="10083800" y="164973"/>
                  </a:cubicBezTo>
                  <a:lnTo>
                    <a:pt x="10083800" y="9461627"/>
                  </a:lnTo>
                  <a:cubicBezTo>
                    <a:pt x="10083800" y="9552813"/>
                    <a:pt x="10009886" y="9626600"/>
                    <a:pt x="9918827" y="9626600"/>
                  </a:cubicBezTo>
                  <a:lnTo>
                    <a:pt x="164973" y="9626600"/>
                  </a:lnTo>
                  <a:cubicBezTo>
                    <a:pt x="73914" y="9626600"/>
                    <a:pt x="0" y="9552686"/>
                    <a:pt x="0" y="9461627"/>
                  </a:cubicBezTo>
                  <a:close/>
                </a:path>
              </a:pathLst>
            </a:custGeom>
            <a:solidFill>
              <a:srgbClr val="FBF7EA"/>
            </a:solidFill>
            <a:ln w="19050" cap="sq">
              <a:solidFill>
                <a:srgbClr val="E9DFC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52144" y="2427732"/>
            <a:ext cx="493776" cy="493776"/>
            <a:chOff x="0" y="0"/>
            <a:chExt cx="658368" cy="6583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D6A64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52144" y="2427732"/>
            <a:ext cx="493776" cy="493776"/>
            <a:chOff x="0" y="0"/>
            <a:chExt cx="658368" cy="6583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58368" cy="715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121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9660">
            <a:off x="1197473" y="3136202"/>
            <a:ext cx="6794783" cy="0"/>
          </a:xfrm>
          <a:prstGeom prst="line">
            <a:avLst/>
          </a:prstGeom>
          <a:ln cap="rnd" w="9525">
            <a:solidFill>
              <a:srgbClr val="E9DFC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996315" y="3260048"/>
            <a:ext cx="7383176" cy="621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8"/>
              </a:lnSpc>
            </a:pPr>
            <a:r>
              <a:rPr lang="en-US" b="true" sz="1677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</a:t>
            </a:r>
            <a:r>
              <a:rPr lang="en-US" b="true" sz="1677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 1: Data Pipeline &amp; Benchmarking</a:t>
            </a:r>
          </a:p>
          <a:p>
            <a:pPr algn="l" marL="303638" indent="-151819" lvl="1">
              <a:lnSpc>
                <a:spcPts val="2738"/>
              </a:lnSpc>
              <a:buFont typeface="Arial"/>
              <a:buChar char="•"/>
            </a:pPr>
            <a:r>
              <a:rPr lang="en-US" sz="1677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Ingest PDS4 imagery and construct the Lunar-MatchBench data pipeline. </a:t>
            </a:r>
          </a:p>
          <a:p>
            <a:pPr algn="l" marL="303638" indent="-151819" lvl="1">
              <a:lnSpc>
                <a:spcPts val="2738"/>
              </a:lnSpc>
              <a:buFont typeface="Arial"/>
              <a:buChar char="•"/>
            </a:pPr>
            <a:r>
              <a:rPr lang="en-US" sz="1677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Standardize spatial scales and radiometric metadata across OHRC, TMC-2, and IIRS.</a:t>
            </a:r>
          </a:p>
          <a:p>
            <a:pPr algn="l">
              <a:lnSpc>
                <a:spcPts val="2738"/>
              </a:lnSpc>
            </a:pPr>
            <a:r>
              <a:rPr lang="en-US" b="true" sz="1677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2: Baseline Establishment</a:t>
            </a:r>
          </a:p>
          <a:p>
            <a:pPr algn="l" marL="303638" indent="-151819" lvl="1">
              <a:lnSpc>
                <a:spcPts val="2738"/>
              </a:lnSpc>
              <a:buFont typeface="Arial"/>
              <a:buChar char="•"/>
            </a:pPr>
            <a:r>
              <a:rPr lang="en-US" sz="1677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 classical (SIFT, AKAZE) and learned (SuperGlue, LoFTR) matchers to establish a performance floor. </a:t>
            </a:r>
          </a:p>
          <a:p>
            <a:pPr algn="l" marL="303638" indent="-151819" lvl="1">
              <a:lnSpc>
                <a:spcPts val="2738"/>
              </a:lnSpc>
              <a:buFont typeface="Arial"/>
              <a:buChar char="•"/>
            </a:pPr>
            <a:r>
              <a:rPr lang="en-US" sz="1677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Identify exact failure points of these baselines under extreme lunar shadows.</a:t>
            </a:r>
          </a:p>
          <a:p>
            <a:pPr algn="l">
              <a:lnSpc>
                <a:spcPts val="2738"/>
              </a:lnSpc>
            </a:pPr>
            <a:r>
              <a:rPr lang="en-US" b="true" sz="1677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3: Core Architecture Build</a:t>
            </a:r>
          </a:p>
          <a:p>
            <a:pPr algn="l" marL="303638" indent="-151819" lvl="1">
              <a:lnSpc>
                <a:spcPts val="2738"/>
              </a:lnSpc>
              <a:buFont typeface="Arial"/>
              <a:buChar char="•"/>
            </a:pPr>
            <a:r>
              <a:rPr lang="en-US" sz="1677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Train the Physics-Guided Terrain Stability Estimator using real pairs and controlled synthetic perturbations. </a:t>
            </a:r>
          </a:p>
          <a:p>
            <a:pPr algn="l" marL="303638" indent="-151819" lvl="1">
              <a:lnSpc>
                <a:spcPts val="2738"/>
              </a:lnSpc>
              <a:buFont typeface="Arial"/>
              <a:buChar char="•"/>
            </a:pPr>
            <a:r>
              <a:rPr lang="en-US" sz="1677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Develop the Multimodal Terrain Encoder to bridge optical and hyperspectral data. </a:t>
            </a:r>
          </a:p>
          <a:p>
            <a:pPr algn="l">
              <a:lnSpc>
                <a:spcPts val="2738"/>
              </a:lnSpc>
            </a:pPr>
            <a:r>
              <a:rPr lang="en-US" b="true" sz="1677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4: Refinement &amp; Validation</a:t>
            </a:r>
          </a:p>
          <a:p>
            <a:pPr algn="l" marL="303638" indent="-151819" lvl="1">
              <a:lnSpc>
                <a:spcPts val="2738"/>
              </a:lnSpc>
              <a:buFont typeface="Arial"/>
              <a:buChar char="•"/>
            </a:pPr>
            <a:r>
              <a:rPr lang="en-US" sz="1677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Implement uncertainty-weighted sub-pixel geometric refinement. </a:t>
            </a:r>
          </a:p>
          <a:p>
            <a:pPr algn="l" marL="303638" indent="-151819" lvl="1">
              <a:lnSpc>
                <a:spcPts val="2738"/>
              </a:lnSpc>
              <a:buFont typeface="Arial"/>
              <a:buChar char="•"/>
            </a:pPr>
            <a:r>
              <a:rPr lang="en-US" sz="1677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Conduct full scientific evaluation against ground truth and deploy the final visualization dashboard.</a:t>
            </a:r>
          </a:p>
          <a:p>
            <a:pPr algn="l">
              <a:lnSpc>
                <a:spcPts val="2738"/>
              </a:lnSpc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9052274" y="2116455"/>
            <a:ext cx="4124611" cy="7219950"/>
            <a:chOff x="0" y="0"/>
            <a:chExt cx="5499481" cy="9626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499481" cy="9626600"/>
            </a:xfrm>
            <a:custGeom>
              <a:avLst/>
              <a:gdLst/>
              <a:ahLst/>
              <a:cxnLst/>
              <a:rect r="r" b="b" t="t" l="l"/>
              <a:pathLst>
                <a:path h="9626600" w="5499481">
                  <a:moveTo>
                    <a:pt x="0" y="165481"/>
                  </a:moveTo>
                  <a:cubicBezTo>
                    <a:pt x="0" y="74041"/>
                    <a:pt x="82042" y="0"/>
                    <a:pt x="183363" y="0"/>
                  </a:cubicBezTo>
                  <a:lnTo>
                    <a:pt x="5316118" y="0"/>
                  </a:lnTo>
                  <a:cubicBezTo>
                    <a:pt x="5417298" y="0"/>
                    <a:pt x="5499481" y="74041"/>
                    <a:pt x="5499481" y="165481"/>
                  </a:cubicBezTo>
                  <a:lnTo>
                    <a:pt x="5499481" y="9461119"/>
                  </a:lnTo>
                  <a:cubicBezTo>
                    <a:pt x="5499481" y="9552432"/>
                    <a:pt x="5417439" y="9626600"/>
                    <a:pt x="5316118" y="9626600"/>
                  </a:cubicBezTo>
                  <a:lnTo>
                    <a:pt x="183363" y="9626600"/>
                  </a:lnTo>
                  <a:cubicBezTo>
                    <a:pt x="82042" y="9626600"/>
                    <a:pt x="0" y="9552559"/>
                    <a:pt x="0" y="9461119"/>
                  </a:cubicBezTo>
                  <a:close/>
                </a:path>
              </a:pathLst>
            </a:custGeom>
            <a:solidFill>
              <a:srgbClr val="FCF1F0"/>
            </a:solidFill>
            <a:ln w="19050" cap="sq">
              <a:solidFill>
                <a:srgbClr val="F1D8D6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820656" y="2468880"/>
            <a:ext cx="603504" cy="603504"/>
            <a:chOff x="0" y="0"/>
            <a:chExt cx="804672" cy="8046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781F19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820656" y="2468880"/>
            <a:ext cx="603504" cy="603504"/>
            <a:chOff x="0" y="0"/>
            <a:chExt cx="804672" cy="80467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804672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!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643616" y="2359152"/>
            <a:ext cx="2194560" cy="822960"/>
            <a:chOff x="0" y="0"/>
            <a:chExt cx="292608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9260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5E18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Potential</a:t>
              </a:r>
            </a:p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5E181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Challenges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9373393" y="3336248"/>
            <a:ext cx="3522026" cy="5807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b="true" sz="1632" i="true">
                <a:solidFill>
                  <a:srgbClr val="6B4A48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1.</a:t>
            </a:r>
            <a:r>
              <a:rPr lang="en-US" b="true" sz="1632" i="true">
                <a:solidFill>
                  <a:srgbClr val="6B4A48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Data Sparsity &amp; Modality Gap</a:t>
            </a:r>
          </a:p>
          <a:p>
            <a:pPr algn="l">
              <a:lnSpc>
                <a:spcPts val="1959"/>
              </a:lnSpc>
            </a:pPr>
          </a:p>
          <a:p>
            <a:pPr algn="l" marL="295444" indent="-147722" lvl="1">
              <a:lnSpc>
                <a:spcPts val="1959"/>
              </a:lnSpc>
              <a:buFont typeface="Arial"/>
              <a:buChar char="•"/>
            </a:pPr>
            <a:r>
              <a:rPr lang="en-US" sz="1632" i="true">
                <a:solidFill>
                  <a:srgbClr val="6B4A4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Finding naturally occurring, exact co-located observations across all three payloads (OHRC, TMC-2, IIRS) is extremely rare. 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  <a:r>
              <a:rPr lang="en-US" b="true" sz="1632" i="true">
                <a:solidFill>
                  <a:srgbClr val="6B4A48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2. Extreme Compute Bottlenecks (OOM)</a:t>
            </a:r>
          </a:p>
          <a:p>
            <a:pPr algn="l">
              <a:lnSpc>
                <a:spcPts val="1959"/>
              </a:lnSpc>
            </a:pPr>
          </a:p>
          <a:p>
            <a:pPr algn="l" marL="295444" indent="-147722" lvl="1">
              <a:lnSpc>
                <a:spcPts val="1959"/>
              </a:lnSpc>
              <a:buFont typeface="Arial"/>
              <a:buChar char="•"/>
            </a:pPr>
            <a:r>
              <a:rPr lang="en-US" sz="1632" i="true">
                <a:solidFill>
                  <a:srgbClr val="6B4A4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Merged </a:t>
            </a:r>
            <a:r>
              <a:rPr lang="en-US" sz="1632" i="true">
                <a:solidFill>
                  <a:srgbClr val="6B4A4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LROC NAC reference products can be up to 10,000 x 52,000 pixels (or 5,064 px for a single frame). Passing these into a transformer model will cause catastrophic GPU memory failures.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  <a:r>
              <a:rPr lang="en-US" b="true" sz="1632" i="true">
                <a:solidFill>
                  <a:srgbClr val="6B4A48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3. Ground Truth &amp; "Silent Failures"</a:t>
            </a:r>
          </a:p>
          <a:p>
            <a:pPr algn="l">
              <a:lnSpc>
                <a:spcPts val="1959"/>
              </a:lnSpc>
            </a:pPr>
          </a:p>
          <a:p>
            <a:pPr algn="l" marL="295444" indent="-147722" lvl="1">
              <a:lnSpc>
                <a:spcPts val="1959"/>
              </a:lnSpc>
              <a:buFont typeface="Arial"/>
              <a:buChar char="•"/>
            </a:pPr>
            <a:r>
              <a:rPr lang="en-US" sz="1632" i="true">
                <a:solidFill>
                  <a:srgbClr val="6B4A48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Proving true sub-pixel accuracy is difficult with imperfect ground truth. Standard algorithms often silently output false homography matrices when they fail.</a:t>
            </a:r>
          </a:p>
          <a:p>
            <a:pPr algn="l">
              <a:lnSpc>
                <a:spcPts val="1959"/>
              </a:lnSpc>
            </a:pPr>
          </a:p>
        </p:txBody>
      </p:sp>
      <p:grpSp>
        <p:nvGrpSpPr>
          <p:cNvPr name="Group 38" id="38"/>
          <p:cNvGrpSpPr/>
          <p:nvPr/>
        </p:nvGrpSpPr>
        <p:grpSpPr>
          <a:xfrm rot="0">
            <a:off x="13569315" y="2116455"/>
            <a:ext cx="4063377" cy="7219950"/>
            <a:chOff x="0" y="0"/>
            <a:chExt cx="5417836" cy="9626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17836" cy="9626600"/>
            </a:xfrm>
            <a:custGeom>
              <a:avLst/>
              <a:gdLst/>
              <a:ahLst/>
              <a:cxnLst/>
              <a:rect r="r" b="b" t="t" l="l"/>
              <a:pathLst>
                <a:path h="9626600" w="5417836">
                  <a:moveTo>
                    <a:pt x="0" y="165481"/>
                  </a:moveTo>
                  <a:cubicBezTo>
                    <a:pt x="0" y="74041"/>
                    <a:pt x="80824" y="0"/>
                    <a:pt x="180641" y="0"/>
                  </a:cubicBezTo>
                  <a:lnTo>
                    <a:pt x="5237195" y="0"/>
                  </a:lnTo>
                  <a:cubicBezTo>
                    <a:pt x="5336874" y="0"/>
                    <a:pt x="5417836" y="74041"/>
                    <a:pt x="5417836" y="165481"/>
                  </a:cubicBezTo>
                  <a:lnTo>
                    <a:pt x="5417836" y="9461119"/>
                  </a:lnTo>
                  <a:cubicBezTo>
                    <a:pt x="5417836" y="9552432"/>
                    <a:pt x="5337013" y="9626600"/>
                    <a:pt x="5237195" y="9626600"/>
                  </a:cubicBezTo>
                  <a:lnTo>
                    <a:pt x="180641" y="9626600"/>
                  </a:lnTo>
                  <a:cubicBezTo>
                    <a:pt x="80824" y="9626600"/>
                    <a:pt x="0" y="9552559"/>
                    <a:pt x="0" y="9461119"/>
                  </a:cubicBezTo>
                  <a:close/>
                </a:path>
              </a:pathLst>
            </a:custGeom>
            <a:solidFill>
              <a:srgbClr val="EFF7F1"/>
            </a:solidFill>
            <a:ln w="19050" cap="sq">
              <a:solidFill>
                <a:srgbClr val="CFE8D6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935456" y="2468880"/>
            <a:ext cx="603504" cy="603504"/>
            <a:chOff x="0" y="0"/>
            <a:chExt cx="804672" cy="8046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402336"/>
                  </a:moveTo>
                  <a:cubicBezTo>
                    <a:pt x="0" y="180086"/>
                    <a:pt x="180086" y="0"/>
                    <a:pt x="402336" y="0"/>
                  </a:cubicBezTo>
                  <a:cubicBezTo>
                    <a:pt x="624586" y="0"/>
                    <a:pt x="804672" y="180086"/>
                    <a:pt x="804672" y="402336"/>
                  </a:cubicBezTo>
                  <a:cubicBezTo>
                    <a:pt x="804672" y="624586"/>
                    <a:pt x="624586" y="804672"/>
                    <a:pt x="402336" y="804672"/>
                  </a:cubicBezTo>
                  <a:cubicBezTo>
                    <a:pt x="180086" y="804672"/>
                    <a:pt x="0" y="624586"/>
                    <a:pt x="0" y="402336"/>
                  </a:cubicBezTo>
                  <a:close/>
                </a:path>
              </a:pathLst>
            </a:custGeom>
            <a:solidFill>
              <a:srgbClr val="2E7D46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3935456" y="2468880"/>
            <a:ext cx="603504" cy="603504"/>
            <a:chOff x="0" y="0"/>
            <a:chExt cx="804672" cy="8046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04672" cy="804672"/>
            </a:xfrm>
            <a:custGeom>
              <a:avLst/>
              <a:gdLst/>
              <a:ahLst/>
              <a:cxnLst/>
              <a:rect r="r" b="b" t="t" l="l"/>
              <a:pathLst>
                <a:path h="804672" w="804672">
                  <a:moveTo>
                    <a:pt x="0" y="0"/>
                  </a:moveTo>
                  <a:lnTo>
                    <a:pt x="804672" y="0"/>
                  </a:lnTo>
                  <a:lnTo>
                    <a:pt x="804672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804672" cy="8618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b="true" sz="270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4758416" y="2359152"/>
            <a:ext cx="2194560" cy="822960"/>
            <a:chOff x="0" y="0"/>
            <a:chExt cx="292608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9260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0" r="0" b="-196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2926080" cy="1135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F5C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Mitigation</a:t>
              </a:r>
            </a:p>
            <a:p>
              <a:pPr algn="l">
                <a:lnSpc>
                  <a:spcPts val="2430"/>
                </a:lnSpc>
              </a:pPr>
              <a:r>
                <a:rPr lang="en-US" b="true" sz="2025">
                  <a:solidFill>
                    <a:srgbClr val="1F5C3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Strategy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3889321" y="3186788"/>
            <a:ext cx="3254833" cy="621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58"/>
              </a:lnSpc>
            </a:pPr>
            <a:r>
              <a:rPr lang="en-US" b="true" sz="1548" i="true">
                <a:solidFill>
                  <a:srgbClr val="436B4E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1. Synthetic</a:t>
            </a:r>
            <a:r>
              <a:rPr lang="en-US" b="true" sz="1548" i="true">
                <a:solidFill>
                  <a:srgbClr val="436B4E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 Augmentation</a:t>
            </a:r>
          </a:p>
          <a:p>
            <a:pPr algn="l">
              <a:lnSpc>
                <a:spcPts val="1858"/>
              </a:lnSpc>
            </a:pPr>
          </a:p>
          <a:p>
            <a:pPr algn="l" marL="280247" indent="-140124" lvl="1">
              <a:lnSpc>
                <a:spcPts val="1858"/>
              </a:lnSpc>
              <a:buFont typeface="Arial"/>
              <a:buChar char="•"/>
            </a:pPr>
            <a:r>
              <a:rPr lang="en-US" sz="1548" i="true">
                <a:solidFill>
                  <a:srgbClr val="436B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 will supplement real overlapping pairs by using map-projected products and applying controlled synthetic perturbations (simulated lighting/angle changes). </a:t>
            </a:r>
          </a:p>
          <a:p>
            <a:pPr algn="l">
              <a:lnSpc>
                <a:spcPts val="1858"/>
              </a:lnSpc>
            </a:pPr>
          </a:p>
          <a:p>
            <a:pPr algn="l">
              <a:lnSpc>
                <a:spcPts val="1858"/>
              </a:lnSpc>
            </a:pPr>
            <a:r>
              <a:rPr lang="en-US" b="true" sz="1548" i="true">
                <a:solidFill>
                  <a:srgbClr val="436B4E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2. Hierarchical Tiling &amp; Streaming</a:t>
            </a:r>
          </a:p>
          <a:p>
            <a:pPr algn="l">
              <a:lnSpc>
                <a:spcPts val="1858"/>
              </a:lnSpc>
            </a:pPr>
          </a:p>
          <a:p>
            <a:pPr algn="l" marL="280247" indent="-140124" lvl="1">
              <a:lnSpc>
                <a:spcPts val="1858"/>
              </a:lnSpc>
              <a:buFont typeface="Arial"/>
              <a:buChar char="•"/>
            </a:pPr>
            <a:r>
              <a:rPr lang="en-US" sz="1548" i="true">
                <a:solidFill>
                  <a:srgbClr val="436B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 will bypass GPU limits using a coarse-to-fine hierarchical tiling strategy. Low-resolution pyramids find the global region, and only high-confidence 512x512 tiles are loaded into VRAM for sub-pixel refinement</a:t>
            </a:r>
          </a:p>
          <a:p>
            <a:pPr algn="l">
              <a:lnSpc>
                <a:spcPts val="1858"/>
              </a:lnSpc>
            </a:pPr>
            <a:r>
              <a:rPr lang="en-US" sz="1548" i="true">
                <a:solidFill>
                  <a:srgbClr val="436B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. </a:t>
            </a:r>
          </a:p>
          <a:p>
            <a:pPr algn="l">
              <a:lnSpc>
                <a:spcPts val="1858"/>
              </a:lnSpc>
            </a:pPr>
            <a:r>
              <a:rPr lang="en-US" b="true" sz="1548" i="true">
                <a:solidFill>
                  <a:srgbClr val="436B4E"/>
                </a:solidFill>
                <a:latin typeface="Calibri (MS) Bold Italics"/>
                <a:ea typeface="Calibri (MS) Bold Italics"/>
                <a:cs typeface="Calibri (MS) Bold Italics"/>
                <a:sym typeface="Calibri (MS) Bold Italics"/>
              </a:rPr>
              <a:t>3. Strict Spatial Validation</a:t>
            </a:r>
          </a:p>
          <a:p>
            <a:pPr algn="l">
              <a:lnSpc>
                <a:spcPts val="1858"/>
              </a:lnSpc>
            </a:pPr>
          </a:p>
          <a:p>
            <a:pPr algn="l" marL="280247" indent="-140124" lvl="1">
              <a:lnSpc>
                <a:spcPts val="1858"/>
              </a:lnSpc>
              <a:buFont typeface="Arial"/>
              <a:buChar char="•"/>
            </a:pPr>
            <a:r>
              <a:rPr lang="en-US" sz="1548" i="true">
                <a:solidFill>
                  <a:srgbClr val="436B4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We will strictly separate training, validation, and test regions to prevent data leakage. We will rely on manually verified tie points and explicitly report confidence scores, refusing to fabricate "sub-pixel" precision.</a:t>
            </a:r>
          </a:p>
          <a:p>
            <a:pPr algn="l">
              <a:lnSpc>
                <a:spcPts val="1858"/>
              </a:lnSpc>
            </a:pPr>
          </a:p>
        </p:txBody>
      </p:sp>
      <p:grpSp>
        <p:nvGrpSpPr>
          <p:cNvPr name="Group 49" id="49"/>
          <p:cNvGrpSpPr/>
          <p:nvPr/>
        </p:nvGrpSpPr>
        <p:grpSpPr>
          <a:xfrm rot="0">
            <a:off x="13345668" y="9779508"/>
            <a:ext cx="4114800" cy="411480"/>
            <a:chOff x="0" y="0"/>
            <a:chExt cx="5486400" cy="5486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05 of 08</a:t>
              </a:r>
            </a:p>
          </p:txBody>
        </p:sp>
      </p:grpSp>
      <p:sp>
        <p:nvSpPr>
          <p:cNvPr name="AutoShape 52" id="52"/>
          <p:cNvSpPr/>
          <p:nvPr/>
        </p:nvSpPr>
        <p:spPr>
          <a:xfrm rot="3960">
            <a:off x="813425" y="9706166"/>
            <a:ext cx="16656568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3" id="53"/>
          <p:cNvGrpSpPr/>
          <p:nvPr/>
        </p:nvGrpSpPr>
        <p:grpSpPr>
          <a:xfrm rot="0">
            <a:off x="822960" y="9779508"/>
            <a:ext cx="13030200" cy="411480"/>
            <a:chOff x="0" y="0"/>
            <a:chExt cx="17373600" cy="5486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737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28575"/>
              <a:ext cx="17373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IITM BS Degree Programme</a:t>
              </a: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- Alibaba and 6 devs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810512" y="2427732"/>
            <a:ext cx="6172200" cy="493776"/>
            <a:chOff x="0" y="0"/>
            <a:chExt cx="8229600" cy="65836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229600" cy="658368"/>
            </a:xfrm>
            <a:custGeom>
              <a:avLst/>
              <a:gdLst/>
              <a:ahLst/>
              <a:cxnLst/>
              <a:rect r="r" b="b" t="t" l="l"/>
              <a:pathLst>
                <a:path h="65836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82296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IMPLEMENTATION ROADMAP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1054" y="619030"/>
            <a:ext cx="572452" cy="572452"/>
            <a:chOff x="0" y="0"/>
            <a:chExt cx="763270" cy="763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3270" cy="763270"/>
            </a:xfrm>
            <a:custGeom>
              <a:avLst/>
              <a:gdLst/>
              <a:ahLst/>
              <a:cxnLst/>
              <a:rect r="r" b="b" t="t" l="l"/>
              <a:pathLst>
                <a:path h="763270" w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30936"/>
            <a:ext cx="548640" cy="548640"/>
            <a:chOff x="0" y="0"/>
            <a:chExt cx="7315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77340" y="603504"/>
            <a:ext cx="8229600" cy="356616"/>
            <a:chOff x="0" y="0"/>
            <a:chExt cx="10972800" cy="475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7280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06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56035" y="1179576"/>
            <a:ext cx="8192479" cy="8233647"/>
          </a:xfrm>
          <a:custGeom>
            <a:avLst/>
            <a:gdLst/>
            <a:ahLst/>
            <a:cxnLst/>
            <a:rect r="r" b="b" t="t" l="l"/>
            <a:pathLst>
              <a:path h="8233647" w="8192479">
                <a:moveTo>
                  <a:pt x="0" y="0"/>
                </a:moveTo>
                <a:lnTo>
                  <a:pt x="8192479" y="0"/>
                </a:lnTo>
                <a:lnTo>
                  <a:pt x="8192479" y="8233647"/>
                </a:lnTo>
                <a:lnTo>
                  <a:pt x="0" y="8233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77340" y="932688"/>
            <a:ext cx="14264640" cy="822960"/>
            <a:chOff x="0" y="0"/>
            <a:chExt cx="1901952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19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90195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Impact and Benefits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58628" y="424624"/>
            <a:ext cx="1016127" cy="1016127"/>
            <a:chOff x="0" y="0"/>
            <a:chExt cx="1354836" cy="13548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836" cy="1354836"/>
            </a:xfrm>
            <a:custGeom>
              <a:avLst/>
              <a:gdLst/>
              <a:ahLst/>
              <a:cxnLst/>
              <a:rect r="r" b="b" t="t" l="l"/>
              <a:pathLst>
                <a:path h="1354836" w="1354836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cubicBezTo>
                    <a:pt x="1051560" y="0"/>
                    <a:pt x="1354836" y="303276"/>
                    <a:pt x="1354836" y="677418"/>
                  </a:cubicBezTo>
                  <a:cubicBezTo>
                    <a:pt x="1354836" y="1051560"/>
                    <a:pt x="1051560" y="1354836"/>
                    <a:pt x="677418" y="1354836"/>
                  </a:cubicBezTo>
                  <a:cubicBezTo>
                    <a:pt x="303276" y="1354836"/>
                    <a:pt x="0" y="1051560"/>
                    <a:pt x="0" y="67741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596360" y="562356"/>
            <a:ext cx="740664" cy="740664"/>
            <a:chOff x="0" y="0"/>
            <a:chExt cx="987552" cy="987552"/>
          </a:xfrm>
        </p:grpSpPr>
        <p:sp>
          <p:nvSpPr>
            <p:cNvPr name="Freeform 17" id="17" descr="/home/claude/work/iitm_bs_logo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13435" y="2116455"/>
            <a:ext cx="7562850" cy="7219950"/>
            <a:chOff x="0" y="0"/>
            <a:chExt cx="10083800" cy="9626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83800" cy="9626600"/>
            </a:xfrm>
            <a:custGeom>
              <a:avLst/>
              <a:gdLst/>
              <a:ahLst/>
              <a:cxnLst/>
              <a:rect r="r" b="b" t="t" l="l"/>
              <a:pathLst>
                <a:path h="9626600" w="10083800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9918827" y="0"/>
                  </a:lnTo>
                  <a:cubicBezTo>
                    <a:pt x="10009886" y="0"/>
                    <a:pt x="10083800" y="73914"/>
                    <a:pt x="10083800" y="164973"/>
                  </a:cubicBezTo>
                  <a:lnTo>
                    <a:pt x="10083800" y="9461627"/>
                  </a:lnTo>
                  <a:cubicBezTo>
                    <a:pt x="10083800" y="9552813"/>
                    <a:pt x="10009886" y="9626600"/>
                    <a:pt x="9918827" y="9626600"/>
                  </a:cubicBezTo>
                  <a:lnTo>
                    <a:pt x="164973" y="9626600"/>
                  </a:lnTo>
                  <a:cubicBezTo>
                    <a:pt x="73914" y="9626600"/>
                    <a:pt x="0" y="9552686"/>
                    <a:pt x="0" y="9461627"/>
                  </a:cubicBezTo>
                  <a:close/>
                </a:path>
              </a:pathLst>
            </a:custGeom>
            <a:solidFill>
              <a:srgbClr val="FBF7EA"/>
            </a:solidFill>
            <a:ln w="19050" cap="sq">
              <a:solidFill>
                <a:srgbClr val="E9DFC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52144" y="2427732"/>
            <a:ext cx="493776" cy="493776"/>
            <a:chOff x="0" y="0"/>
            <a:chExt cx="658368" cy="6583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D6A64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52144" y="2427732"/>
            <a:ext cx="493776" cy="493776"/>
            <a:chOff x="0" y="0"/>
            <a:chExt cx="658368" cy="6583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58368" cy="715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121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9660">
            <a:off x="1197473" y="3136202"/>
            <a:ext cx="6794783" cy="0"/>
          </a:xfrm>
          <a:prstGeom prst="line">
            <a:avLst/>
          </a:prstGeom>
          <a:ln cap="rnd" w="9525">
            <a:solidFill>
              <a:srgbClr val="E9DFC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197487" y="3250523"/>
            <a:ext cx="6592853" cy="610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3060"/>
              </a:lnSpc>
              <a:buFont typeface="Arial"/>
              <a:buChar char="•"/>
            </a:pPr>
            <a:r>
              <a:rPr lang="en-US" b="true" sz="1875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</a:t>
            </a:r>
            <a:r>
              <a:rPr lang="en-US" b="true" sz="1875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 Foundation:</a:t>
            </a:r>
            <a:r>
              <a:rPr lang="en-US" sz="1875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 Reliable lunar image registration is an absolute prerequisite for multi-mission mapping, terrain reconstruction, and temporal change analysis. </a:t>
            </a:r>
          </a:p>
          <a:p>
            <a:pPr algn="l">
              <a:lnSpc>
                <a:spcPts val="3060"/>
              </a:lnSpc>
            </a:pPr>
          </a:p>
          <a:p>
            <a:pPr algn="l" marL="339328" indent="-169664" lvl="1">
              <a:lnSpc>
                <a:spcPts val="3060"/>
              </a:lnSpc>
              <a:buFont typeface="Arial"/>
              <a:buChar char="•"/>
            </a:pPr>
            <a:r>
              <a:rPr lang="en-US" b="true" sz="1875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Trust &amp; Transparency:</a:t>
            </a:r>
            <a:r>
              <a:rPr lang="en-US" sz="1875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 By reporting explicit uncertainty, we prevent the silent propagation of false matches. Downstream users know exactly where the registration can be trusted. </a:t>
            </a:r>
          </a:p>
          <a:p>
            <a:pPr algn="l">
              <a:lnSpc>
                <a:spcPts val="3060"/>
              </a:lnSpc>
            </a:pPr>
          </a:p>
          <a:p>
            <a:pPr algn="l" marL="339328" indent="-169664" lvl="1">
              <a:lnSpc>
                <a:spcPts val="3060"/>
              </a:lnSpc>
              <a:buFont typeface="Arial"/>
              <a:buChar char="•"/>
            </a:pPr>
            <a:r>
              <a:rPr lang="en-US" b="true" sz="1875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Legacy Contribution:</a:t>
            </a:r>
            <a:r>
              <a:rPr lang="en-US" sz="1875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 We are not just building a model; we are releasing Lunar-MatchBench, a reproducible benchmark spanning OHRC, TMC-2, IIRS, and LROC for the wider scientific community. </a:t>
            </a:r>
          </a:p>
          <a:p>
            <a:pPr algn="l">
              <a:lnSpc>
                <a:spcPts val="3060"/>
              </a:lnSpc>
            </a:pPr>
          </a:p>
          <a:p>
            <a:pPr algn="l" marL="339328" indent="-169664" lvl="1">
              <a:lnSpc>
                <a:spcPts val="3060"/>
              </a:lnSpc>
              <a:buFont typeface="Arial"/>
              <a:buChar char="•"/>
            </a:pPr>
            <a:r>
              <a:rPr lang="en-US" b="true" sz="1875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Direct Beneficiaries:</a:t>
            </a:r>
            <a:r>
              <a:rPr lang="en-US" sz="1875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 ISRO mission scientists and planetary researchers.</a:t>
            </a:r>
          </a:p>
          <a:p>
            <a:pPr algn="l">
              <a:lnSpc>
                <a:spcPts val="3060"/>
              </a:lnSpc>
            </a:pPr>
          </a:p>
        </p:txBody>
      </p:sp>
      <p:grpSp>
        <p:nvGrpSpPr>
          <p:cNvPr name="Group 27" id="27"/>
          <p:cNvGrpSpPr/>
          <p:nvPr/>
        </p:nvGrpSpPr>
        <p:grpSpPr>
          <a:xfrm rot="0">
            <a:off x="9454515" y="2116455"/>
            <a:ext cx="7837170" cy="2323338"/>
            <a:chOff x="0" y="0"/>
            <a:chExt cx="10449560" cy="30977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449560" cy="3097784"/>
            </a:xfrm>
            <a:custGeom>
              <a:avLst/>
              <a:gdLst/>
              <a:ahLst/>
              <a:cxnLst/>
              <a:rect r="r" b="b" t="t" l="l"/>
              <a:pathLst>
                <a:path h="3097784" w="1044956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10283571" y="0"/>
                  </a:lnTo>
                  <a:cubicBezTo>
                    <a:pt x="10375264" y="0"/>
                    <a:pt x="10449560" y="74295"/>
                    <a:pt x="10449560" y="165989"/>
                  </a:cubicBezTo>
                  <a:lnTo>
                    <a:pt x="10449560" y="2931795"/>
                  </a:lnTo>
                  <a:cubicBezTo>
                    <a:pt x="10449560" y="3023489"/>
                    <a:pt x="10375264" y="3097784"/>
                    <a:pt x="10283571" y="3097784"/>
                  </a:cubicBezTo>
                  <a:lnTo>
                    <a:pt x="165989" y="3097784"/>
                  </a:lnTo>
                  <a:cubicBezTo>
                    <a:pt x="74295" y="3097784"/>
                    <a:pt x="0" y="3023489"/>
                    <a:pt x="0" y="2931795"/>
                  </a:cubicBezTo>
                  <a:close/>
                </a:path>
              </a:pathLst>
            </a:custGeom>
            <a:solidFill>
              <a:srgbClr val="F5F6FA"/>
            </a:solidFill>
            <a:ln w="19050" cap="sq">
              <a:solidFill>
                <a:srgbClr val="E7E9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781318" y="2443258"/>
            <a:ext cx="709612" cy="709612"/>
            <a:chOff x="0" y="0"/>
            <a:chExt cx="946150" cy="94615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46150" cy="946150"/>
            </a:xfrm>
            <a:custGeom>
              <a:avLst/>
              <a:gdLst/>
              <a:ahLst/>
              <a:cxnLst/>
              <a:rect r="r" b="b" t="t" l="l"/>
              <a:pathLst>
                <a:path h="946150" w="946150">
                  <a:moveTo>
                    <a:pt x="0" y="473075"/>
                  </a:moveTo>
                  <a:cubicBezTo>
                    <a:pt x="0" y="211836"/>
                    <a:pt x="211836" y="0"/>
                    <a:pt x="473075" y="0"/>
                  </a:cubicBezTo>
                  <a:cubicBezTo>
                    <a:pt x="734314" y="0"/>
                    <a:pt x="946150" y="211836"/>
                    <a:pt x="946150" y="473075"/>
                  </a:cubicBezTo>
                  <a:cubicBezTo>
                    <a:pt x="946150" y="734314"/>
                    <a:pt x="734314" y="946150"/>
                    <a:pt x="473075" y="946150"/>
                  </a:cubicBezTo>
                  <a:cubicBezTo>
                    <a:pt x="211836" y="946150"/>
                    <a:pt x="0" y="734314"/>
                    <a:pt x="0" y="473075"/>
                  </a:cubicBezTo>
                  <a:close/>
                </a:path>
              </a:pathLst>
            </a:custGeom>
            <a:solidFill>
              <a:srgbClr val="D6A64F"/>
            </a:solidFill>
            <a:ln w="23812" cap="sq">
              <a:solidFill>
                <a:srgbClr val="781F19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793224" y="2455164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121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●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753344" y="2400300"/>
            <a:ext cx="6240780" cy="480060"/>
            <a:chOff x="0" y="0"/>
            <a:chExt cx="832104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21040" cy="640080"/>
            </a:xfrm>
            <a:custGeom>
              <a:avLst/>
              <a:gdLst/>
              <a:ahLst/>
              <a:cxnLst/>
              <a:rect r="r" b="b" t="t" l="l"/>
              <a:pathLst>
                <a:path h="64008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832104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Social Impact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0844765" y="2956541"/>
            <a:ext cx="6057929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Empowers India’s planetary science community with a shared, trustworthy registration engine. It eliminates duplicated tooling efforts across different payload teams and accelerates large-scale scientific data fusion.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454515" y="4695063"/>
            <a:ext cx="7837170" cy="2323338"/>
            <a:chOff x="0" y="0"/>
            <a:chExt cx="10449560" cy="309778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49560" cy="3097784"/>
            </a:xfrm>
            <a:custGeom>
              <a:avLst/>
              <a:gdLst/>
              <a:ahLst/>
              <a:cxnLst/>
              <a:rect r="r" b="b" t="t" l="l"/>
              <a:pathLst>
                <a:path h="3097784" w="1044956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10283571" y="0"/>
                  </a:lnTo>
                  <a:cubicBezTo>
                    <a:pt x="10375264" y="0"/>
                    <a:pt x="10449560" y="74295"/>
                    <a:pt x="10449560" y="165989"/>
                  </a:cubicBezTo>
                  <a:lnTo>
                    <a:pt x="10449560" y="2931795"/>
                  </a:lnTo>
                  <a:cubicBezTo>
                    <a:pt x="10449560" y="3023489"/>
                    <a:pt x="10375264" y="3097784"/>
                    <a:pt x="10283571" y="3097784"/>
                  </a:cubicBezTo>
                  <a:lnTo>
                    <a:pt x="165989" y="3097784"/>
                  </a:lnTo>
                  <a:cubicBezTo>
                    <a:pt x="74295" y="3097784"/>
                    <a:pt x="0" y="3023489"/>
                    <a:pt x="0" y="2931795"/>
                  </a:cubicBezTo>
                  <a:close/>
                </a:path>
              </a:pathLst>
            </a:custGeom>
            <a:solidFill>
              <a:srgbClr val="F5F6FA"/>
            </a:solidFill>
            <a:ln w="19050" cap="sq">
              <a:solidFill>
                <a:srgbClr val="E7E9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781318" y="5021866"/>
            <a:ext cx="709612" cy="709612"/>
            <a:chOff x="0" y="0"/>
            <a:chExt cx="946150" cy="94615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46150" cy="946150"/>
            </a:xfrm>
            <a:custGeom>
              <a:avLst/>
              <a:gdLst/>
              <a:ahLst/>
              <a:cxnLst/>
              <a:rect r="r" b="b" t="t" l="l"/>
              <a:pathLst>
                <a:path h="946150" w="946150">
                  <a:moveTo>
                    <a:pt x="0" y="473075"/>
                  </a:moveTo>
                  <a:cubicBezTo>
                    <a:pt x="0" y="211836"/>
                    <a:pt x="211836" y="0"/>
                    <a:pt x="473075" y="0"/>
                  </a:cubicBezTo>
                  <a:cubicBezTo>
                    <a:pt x="734314" y="0"/>
                    <a:pt x="946150" y="211836"/>
                    <a:pt x="946150" y="473075"/>
                  </a:cubicBezTo>
                  <a:cubicBezTo>
                    <a:pt x="946150" y="734314"/>
                    <a:pt x="734314" y="946150"/>
                    <a:pt x="473075" y="946150"/>
                  </a:cubicBezTo>
                  <a:cubicBezTo>
                    <a:pt x="211836" y="946150"/>
                    <a:pt x="0" y="734314"/>
                    <a:pt x="0" y="473075"/>
                  </a:cubicBezTo>
                  <a:close/>
                </a:path>
              </a:pathLst>
            </a:custGeom>
            <a:solidFill>
              <a:srgbClr val="D6A64F"/>
            </a:solidFill>
            <a:ln w="23812" cap="sq">
              <a:solidFill>
                <a:srgbClr val="781F19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793224" y="5033772"/>
            <a:ext cx="685800" cy="685800"/>
            <a:chOff x="0" y="0"/>
            <a:chExt cx="914400" cy="914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121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■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753344" y="4978908"/>
            <a:ext cx="6240780" cy="480060"/>
            <a:chOff x="0" y="0"/>
            <a:chExt cx="8321040" cy="6400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321040" cy="640080"/>
            </a:xfrm>
            <a:custGeom>
              <a:avLst/>
              <a:gdLst/>
              <a:ahLst/>
              <a:cxnLst/>
              <a:rect r="r" b="b" t="t" l="l"/>
              <a:pathLst>
                <a:path h="64008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832104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Economic Impact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0824196" y="5293804"/>
            <a:ext cx="6057929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Drastically reduces the manual, labor-intensive tie-point curation required by mission teams. It directly de-risks heavily invested downstream products like high-resolution DEM generation from TMC-2 data by preventing costly registration errors.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9454515" y="7273671"/>
            <a:ext cx="7837170" cy="2323338"/>
            <a:chOff x="0" y="0"/>
            <a:chExt cx="10449560" cy="30977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449560" cy="3097784"/>
            </a:xfrm>
            <a:custGeom>
              <a:avLst/>
              <a:gdLst/>
              <a:ahLst/>
              <a:cxnLst/>
              <a:rect r="r" b="b" t="t" l="l"/>
              <a:pathLst>
                <a:path h="3097784" w="10449560">
                  <a:moveTo>
                    <a:pt x="0" y="165989"/>
                  </a:moveTo>
                  <a:cubicBezTo>
                    <a:pt x="0" y="74295"/>
                    <a:pt x="74295" y="0"/>
                    <a:pt x="165989" y="0"/>
                  </a:cubicBezTo>
                  <a:lnTo>
                    <a:pt x="10283571" y="0"/>
                  </a:lnTo>
                  <a:cubicBezTo>
                    <a:pt x="10375264" y="0"/>
                    <a:pt x="10449560" y="74295"/>
                    <a:pt x="10449560" y="165989"/>
                  </a:cubicBezTo>
                  <a:lnTo>
                    <a:pt x="10449560" y="2931795"/>
                  </a:lnTo>
                  <a:cubicBezTo>
                    <a:pt x="10449560" y="3023489"/>
                    <a:pt x="10375264" y="3097784"/>
                    <a:pt x="10283571" y="3097784"/>
                  </a:cubicBezTo>
                  <a:lnTo>
                    <a:pt x="165989" y="3097784"/>
                  </a:lnTo>
                  <a:cubicBezTo>
                    <a:pt x="74295" y="3097784"/>
                    <a:pt x="0" y="3023489"/>
                    <a:pt x="0" y="2931795"/>
                  </a:cubicBezTo>
                  <a:close/>
                </a:path>
              </a:pathLst>
            </a:custGeom>
            <a:solidFill>
              <a:srgbClr val="F5F6FA"/>
            </a:solidFill>
            <a:ln w="19050" cap="sq">
              <a:solidFill>
                <a:srgbClr val="E7E9F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9781318" y="7600474"/>
            <a:ext cx="709612" cy="709612"/>
            <a:chOff x="0" y="0"/>
            <a:chExt cx="946150" cy="94615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46150" cy="946150"/>
            </a:xfrm>
            <a:custGeom>
              <a:avLst/>
              <a:gdLst/>
              <a:ahLst/>
              <a:cxnLst/>
              <a:rect r="r" b="b" t="t" l="l"/>
              <a:pathLst>
                <a:path h="946150" w="946150">
                  <a:moveTo>
                    <a:pt x="0" y="473075"/>
                  </a:moveTo>
                  <a:cubicBezTo>
                    <a:pt x="0" y="211836"/>
                    <a:pt x="211836" y="0"/>
                    <a:pt x="473075" y="0"/>
                  </a:cubicBezTo>
                  <a:cubicBezTo>
                    <a:pt x="734314" y="0"/>
                    <a:pt x="946150" y="211836"/>
                    <a:pt x="946150" y="473075"/>
                  </a:cubicBezTo>
                  <a:cubicBezTo>
                    <a:pt x="946150" y="734314"/>
                    <a:pt x="734314" y="946150"/>
                    <a:pt x="473075" y="946150"/>
                  </a:cubicBezTo>
                  <a:cubicBezTo>
                    <a:pt x="211836" y="946150"/>
                    <a:pt x="0" y="734314"/>
                    <a:pt x="0" y="473075"/>
                  </a:cubicBezTo>
                  <a:close/>
                </a:path>
              </a:pathLst>
            </a:custGeom>
            <a:solidFill>
              <a:srgbClr val="D6A64F"/>
            </a:solidFill>
            <a:ln w="23812" cap="sq">
              <a:solidFill>
                <a:srgbClr val="781F19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9793224" y="7612380"/>
            <a:ext cx="685800" cy="685800"/>
            <a:chOff x="0" y="0"/>
            <a:chExt cx="914400" cy="914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>
                  <a:solidFill>
                    <a:srgbClr val="121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▲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0753344" y="7557516"/>
            <a:ext cx="6240780" cy="480060"/>
            <a:chOff x="0" y="0"/>
            <a:chExt cx="8321040" cy="6400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321040" cy="640080"/>
            </a:xfrm>
            <a:custGeom>
              <a:avLst/>
              <a:gdLst/>
              <a:ahLst/>
              <a:cxnLst/>
              <a:rect r="r" b="b" t="t" l="l"/>
              <a:pathLst>
                <a:path h="64008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305" r="0" b="-20330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8321040" cy="6972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b="true" sz="2250">
                  <a:solidFill>
                    <a:srgbClr val="1E2761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Environmental Impact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10844765" y="8113757"/>
            <a:ext cx="6057929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High-preci</a:t>
            </a:r>
            <a:r>
              <a:rPr lang="en-US" sz="1800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sion terrain and spectral mapping directly supports safer landing-site characterization and critical resource identification (like volatile mapping via IIRS). This lays the foundational groundwork for autonomous future planetary navigation.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3345668" y="9779508"/>
            <a:ext cx="4114800" cy="411480"/>
            <a:chOff x="0" y="0"/>
            <a:chExt cx="548640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06 of 08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 rot="3960">
            <a:off x="813425" y="9706166"/>
            <a:ext cx="16656568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822960" y="9779508"/>
            <a:ext cx="13030200" cy="411480"/>
            <a:chOff x="0" y="0"/>
            <a:chExt cx="17373600" cy="5486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737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17373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IITM BS Degree Programme</a:t>
              </a: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- Alibaba and 6 devs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810512" y="2427732"/>
            <a:ext cx="6172200" cy="493776"/>
            <a:chOff x="0" y="0"/>
            <a:chExt cx="8229600" cy="65836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229600" cy="658368"/>
            </a:xfrm>
            <a:custGeom>
              <a:avLst/>
              <a:gdLst/>
              <a:ahLst/>
              <a:cxnLst/>
              <a:rect r="r" b="b" t="t" l="l"/>
              <a:pathLst>
                <a:path h="65836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28575"/>
              <a:ext cx="82296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WHY THIS MATTERS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1054" y="619030"/>
            <a:ext cx="572452" cy="572452"/>
            <a:chOff x="0" y="0"/>
            <a:chExt cx="763270" cy="763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3270" cy="763270"/>
            </a:xfrm>
            <a:custGeom>
              <a:avLst/>
              <a:gdLst/>
              <a:ahLst/>
              <a:cxnLst/>
              <a:rect r="r" b="b" t="t" l="l"/>
              <a:pathLst>
                <a:path h="763270" w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30936"/>
            <a:ext cx="548640" cy="548640"/>
            <a:chOff x="0" y="0"/>
            <a:chExt cx="7315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77340" y="603504"/>
            <a:ext cx="8229600" cy="356616"/>
            <a:chOff x="0" y="0"/>
            <a:chExt cx="10972800" cy="475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7280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07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56035" y="1179576"/>
            <a:ext cx="8192479" cy="8233647"/>
          </a:xfrm>
          <a:custGeom>
            <a:avLst/>
            <a:gdLst/>
            <a:ahLst/>
            <a:cxnLst/>
            <a:rect r="r" b="b" t="t" l="l"/>
            <a:pathLst>
              <a:path h="8233647" w="8192479">
                <a:moveTo>
                  <a:pt x="0" y="0"/>
                </a:moveTo>
                <a:lnTo>
                  <a:pt x="8192479" y="0"/>
                </a:lnTo>
                <a:lnTo>
                  <a:pt x="8192479" y="8233647"/>
                </a:lnTo>
                <a:lnTo>
                  <a:pt x="0" y="8233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77340" y="932688"/>
            <a:ext cx="14264640" cy="822960"/>
            <a:chOff x="0" y="0"/>
            <a:chExt cx="1901952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19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90195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Research and References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58628" y="424624"/>
            <a:ext cx="1016127" cy="1016127"/>
            <a:chOff x="0" y="0"/>
            <a:chExt cx="1354836" cy="13548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836" cy="1354836"/>
            </a:xfrm>
            <a:custGeom>
              <a:avLst/>
              <a:gdLst/>
              <a:ahLst/>
              <a:cxnLst/>
              <a:rect r="r" b="b" t="t" l="l"/>
              <a:pathLst>
                <a:path h="1354836" w="1354836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cubicBezTo>
                    <a:pt x="1051560" y="0"/>
                    <a:pt x="1354836" y="303276"/>
                    <a:pt x="1354836" y="677418"/>
                  </a:cubicBezTo>
                  <a:cubicBezTo>
                    <a:pt x="1354836" y="1051560"/>
                    <a:pt x="1051560" y="1354836"/>
                    <a:pt x="677418" y="1354836"/>
                  </a:cubicBezTo>
                  <a:cubicBezTo>
                    <a:pt x="303276" y="1354836"/>
                    <a:pt x="0" y="1051560"/>
                    <a:pt x="0" y="67741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596360" y="562356"/>
            <a:ext cx="740664" cy="740664"/>
            <a:chOff x="0" y="0"/>
            <a:chExt cx="987552" cy="987552"/>
          </a:xfrm>
        </p:grpSpPr>
        <p:sp>
          <p:nvSpPr>
            <p:cNvPr name="Freeform 17" id="17" descr="/home/claude/work/iitm_bs_logo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13435" y="2116455"/>
            <a:ext cx="7562850" cy="7219950"/>
            <a:chOff x="0" y="0"/>
            <a:chExt cx="10083800" cy="9626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83800" cy="9626600"/>
            </a:xfrm>
            <a:custGeom>
              <a:avLst/>
              <a:gdLst/>
              <a:ahLst/>
              <a:cxnLst/>
              <a:rect r="r" b="b" t="t" l="l"/>
              <a:pathLst>
                <a:path h="9626600" w="10083800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9918827" y="0"/>
                  </a:lnTo>
                  <a:cubicBezTo>
                    <a:pt x="10009886" y="0"/>
                    <a:pt x="10083800" y="73914"/>
                    <a:pt x="10083800" y="164973"/>
                  </a:cubicBezTo>
                  <a:lnTo>
                    <a:pt x="10083800" y="9461627"/>
                  </a:lnTo>
                  <a:cubicBezTo>
                    <a:pt x="10083800" y="9552813"/>
                    <a:pt x="10009886" y="9626600"/>
                    <a:pt x="9918827" y="9626600"/>
                  </a:cubicBezTo>
                  <a:lnTo>
                    <a:pt x="164973" y="9626600"/>
                  </a:lnTo>
                  <a:cubicBezTo>
                    <a:pt x="73914" y="9626600"/>
                    <a:pt x="0" y="9552686"/>
                    <a:pt x="0" y="9461627"/>
                  </a:cubicBezTo>
                  <a:close/>
                </a:path>
              </a:pathLst>
            </a:custGeom>
            <a:solidFill>
              <a:srgbClr val="FBF7EA"/>
            </a:solidFill>
            <a:ln w="19050" cap="sq">
              <a:solidFill>
                <a:srgbClr val="E9DFC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52144" y="2427732"/>
            <a:ext cx="493776" cy="493776"/>
            <a:chOff x="0" y="0"/>
            <a:chExt cx="658368" cy="6583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D6A64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52144" y="2427732"/>
            <a:ext cx="493776" cy="493776"/>
            <a:chOff x="0" y="0"/>
            <a:chExt cx="658368" cy="6583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58368" cy="715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121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9660">
            <a:off x="1197473" y="3136202"/>
            <a:ext cx="6794783" cy="0"/>
          </a:xfrm>
          <a:prstGeom prst="line">
            <a:avLst/>
          </a:prstGeom>
          <a:ln cap="rnd" w="9525">
            <a:solidFill>
              <a:srgbClr val="E9DF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9499854" y="2193273"/>
            <a:ext cx="7837170" cy="7219950"/>
            <a:chOff x="0" y="0"/>
            <a:chExt cx="10449560" cy="9626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49560" cy="9626600"/>
            </a:xfrm>
            <a:custGeom>
              <a:avLst/>
              <a:gdLst/>
              <a:ahLst/>
              <a:cxnLst/>
              <a:rect r="r" b="b" t="t" l="l"/>
              <a:pathLst>
                <a:path h="9626600" w="10449560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10284587" y="0"/>
                  </a:lnTo>
                  <a:cubicBezTo>
                    <a:pt x="10375773" y="0"/>
                    <a:pt x="10449560" y="73914"/>
                    <a:pt x="10449560" y="164973"/>
                  </a:cubicBezTo>
                  <a:lnTo>
                    <a:pt x="10449560" y="9461627"/>
                  </a:lnTo>
                  <a:cubicBezTo>
                    <a:pt x="10449560" y="9552813"/>
                    <a:pt x="10375646" y="9626600"/>
                    <a:pt x="10284587" y="9626600"/>
                  </a:cubicBezTo>
                  <a:lnTo>
                    <a:pt x="164973" y="9626600"/>
                  </a:lnTo>
                  <a:cubicBezTo>
                    <a:pt x="73914" y="9626600"/>
                    <a:pt x="0" y="9552686"/>
                    <a:pt x="0" y="9461627"/>
                  </a:cubicBezTo>
                  <a:close/>
                </a:path>
              </a:pathLst>
            </a:custGeom>
            <a:solidFill>
              <a:srgbClr val="F5F6FA"/>
            </a:solidFill>
            <a:ln w="19050" cap="sq">
              <a:solidFill>
                <a:srgbClr val="E7E9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875520" y="2441448"/>
            <a:ext cx="6995160" cy="411480"/>
            <a:chOff x="0" y="0"/>
            <a:chExt cx="9326880" cy="5486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326880" cy="548640"/>
            </a:xfrm>
            <a:custGeom>
              <a:avLst/>
              <a:gdLst/>
              <a:ahLst/>
              <a:cxnLst/>
              <a:rect r="r" b="b" t="t" l="l"/>
              <a:pathLst>
                <a:path h="54864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1245" r="0" b="-28124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93268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REFERENCES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rot="9360">
            <a:off x="9865985" y="2930462"/>
            <a:ext cx="7014239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3345668" y="9779508"/>
            <a:ext cx="4114800" cy="411480"/>
            <a:chOff x="0" y="0"/>
            <a:chExt cx="5486400" cy="5486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07 of 08</a:t>
              </a:r>
            </a:p>
          </p:txBody>
        </p:sp>
      </p:grpSp>
      <p:sp>
        <p:nvSpPr>
          <p:cNvPr name="AutoShape 35" id="35"/>
          <p:cNvSpPr/>
          <p:nvPr/>
        </p:nvSpPr>
        <p:spPr>
          <a:xfrm rot="3960">
            <a:off x="813425" y="9706166"/>
            <a:ext cx="16656568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822960" y="9779508"/>
            <a:ext cx="13030200" cy="411480"/>
            <a:chOff x="0" y="0"/>
            <a:chExt cx="17373600" cy="5486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737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28575"/>
              <a:ext cx="17373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IITM BS Degree Programme</a:t>
              </a: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- Alibaba and 6 devs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71091" y="3481164"/>
            <a:ext cx="6980774" cy="495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9294" indent="-179647" lvl="1">
              <a:lnSpc>
                <a:spcPts val="3240"/>
              </a:lnSpc>
              <a:buFont typeface="Arial"/>
              <a:buChar char="•"/>
            </a:pPr>
            <a:r>
              <a:rPr lang="en-US" sz="1985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OHRC (Chandrayaan-2): ~0.32 m resolution, optical modality. Provides fine morphology. Accessed via ISSDC PRADAN in PDS4 format. </a:t>
            </a:r>
          </a:p>
          <a:p>
            <a:pPr algn="l" marL="359294" indent="-179647" lvl="1">
              <a:lnSpc>
                <a:spcPts val="3240"/>
              </a:lnSpc>
              <a:buFont typeface="Arial"/>
              <a:buChar char="•"/>
            </a:pPr>
            <a:r>
              <a:rPr lang="en-US" sz="1985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TMC-2 (Chandrayaan-2): 5 m resolution, panchromatic/stereo modality. Provides terrain structure and DEM generation capabilities. </a:t>
            </a:r>
          </a:p>
          <a:p>
            <a:pPr algn="l" marL="359294" indent="-179647" lvl="1">
              <a:lnSpc>
                <a:spcPts val="3240"/>
              </a:lnSpc>
              <a:buFont typeface="Arial"/>
              <a:buChar char="•"/>
            </a:pPr>
            <a:r>
              <a:rPr lang="en-US" sz="1985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IIRS (Chandrayaan-2): ~80 m resolution, hyperspectral modality. Provides spectral and material context. </a:t>
            </a:r>
          </a:p>
          <a:p>
            <a:pPr algn="l" marL="359294" indent="-179647" lvl="1">
              <a:lnSpc>
                <a:spcPts val="3240"/>
              </a:lnSpc>
              <a:buFont typeface="Arial"/>
              <a:buChar char="•"/>
            </a:pPr>
            <a:r>
              <a:rPr lang="en-US" sz="1985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LROC NAC (NASA): 0.5–2 m/px resolution, optical modality. Utilized as the independent, high-resolution external reference for cross-mission validation.</a:t>
            </a:r>
          </a:p>
          <a:p>
            <a:pPr algn="l">
              <a:lnSpc>
                <a:spcPts val="3474"/>
              </a:lnSpc>
            </a:pPr>
          </a:p>
        </p:txBody>
      </p:sp>
      <p:sp>
        <p:nvSpPr>
          <p:cNvPr name="TextBox 40" id="40"/>
          <p:cNvSpPr txBox="true"/>
          <p:nvPr/>
        </p:nvSpPr>
        <p:spPr>
          <a:xfrm rot="0">
            <a:off x="9966941" y="3199238"/>
            <a:ext cx="7141818" cy="6234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3534" indent="-181767" lvl="1">
              <a:lnSpc>
                <a:spcPts val="2370"/>
              </a:lnSpc>
              <a:buFont typeface="Arial"/>
              <a:buChar char="•"/>
            </a:pPr>
            <a:r>
              <a:rPr lang="en-US" sz="2008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ISRO, "Chandrayaan-2 Mission Handbook: Payloads, Data and Science" &amp; "Science Payloads."</a:t>
            </a:r>
          </a:p>
          <a:p>
            <a:pPr algn="l">
              <a:lnSpc>
                <a:spcPts val="2370"/>
              </a:lnSpc>
            </a:pPr>
          </a:p>
          <a:p>
            <a:pPr algn="l" marL="363534" indent="-181767" lvl="1">
              <a:lnSpc>
                <a:spcPts val="2370"/>
              </a:lnSpc>
              <a:buFont typeface="Arial"/>
              <a:buChar char="•"/>
            </a:pPr>
            <a:r>
              <a:rPr lang="en-US" sz="2008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LROC Team, "Working with LROC Narrow Angle Camera (NAC) Data Processing Guide."</a:t>
            </a:r>
          </a:p>
          <a:p>
            <a:pPr algn="l">
              <a:lnSpc>
                <a:spcPts val="2370"/>
              </a:lnSpc>
            </a:pPr>
          </a:p>
          <a:p>
            <a:pPr algn="l" marL="363534" indent="-181767" lvl="1">
              <a:lnSpc>
                <a:spcPts val="2370"/>
              </a:lnSpc>
              <a:buFont typeface="Arial"/>
              <a:buChar char="•"/>
            </a:pPr>
            <a:r>
              <a:rPr lang="en-US" sz="2008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Makharia et al., "Comparative evaluation of traditional and deep learning feature matching algorithms using Chandrayaan-2 lunar data," arXiv:2509.04775, 2025.</a:t>
            </a:r>
          </a:p>
          <a:p>
            <a:pPr algn="l">
              <a:lnSpc>
                <a:spcPts val="2370"/>
              </a:lnSpc>
            </a:pPr>
          </a:p>
          <a:p>
            <a:pPr algn="l" marL="363534" indent="-181767" lvl="1">
              <a:lnSpc>
                <a:spcPts val="2370"/>
              </a:lnSpc>
              <a:buFont typeface="Arial"/>
              <a:buChar char="•"/>
            </a:pPr>
            <a:r>
              <a:rPr lang="en-US" sz="2008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 Yan, Q. et al., "Photometric-weighted invariant feature transform for planetary surface image registration under complex illumination," Aerospace Science and Technology, 2026</a:t>
            </a:r>
          </a:p>
          <a:p>
            <a:pPr algn="l">
              <a:lnSpc>
                <a:spcPts val="2370"/>
              </a:lnSpc>
            </a:pPr>
          </a:p>
          <a:p>
            <a:pPr algn="l" marL="363534" indent="-181767" lvl="1">
              <a:lnSpc>
                <a:spcPts val="2370"/>
              </a:lnSpc>
              <a:buFont typeface="Arial"/>
              <a:buChar char="•"/>
            </a:pPr>
            <a:r>
              <a:rPr lang="en-US" sz="2008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Wu, B., Zeng, H., &amp; Hu, H., "Illumination invariant feature point matching for high-resolution planetary remote sensing images," Planetary and Space Science, 2018.</a:t>
            </a:r>
          </a:p>
          <a:p>
            <a:pPr algn="l">
              <a:lnSpc>
                <a:spcPts val="2370"/>
              </a:lnSpc>
            </a:pPr>
          </a:p>
          <a:p>
            <a:pPr algn="l" marL="363534" indent="-181767" lvl="1">
              <a:lnSpc>
                <a:spcPts val="2370"/>
              </a:lnSpc>
              <a:buFont typeface="Arial"/>
              <a:buChar char="•"/>
            </a:pPr>
            <a:r>
              <a:rPr lang="en-US" sz="2008" i="true">
                <a:solidFill>
                  <a:srgbClr val="666B74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Sarlin et al., "SuperGlue: Learning Feature Matching with Graph Neural Networks," CVPR, 2020.</a:t>
            </a:r>
          </a:p>
          <a:p>
            <a:pPr algn="l">
              <a:lnSpc>
                <a:spcPts val="2370"/>
              </a:lnSpc>
            </a:pPr>
          </a:p>
        </p:txBody>
      </p:sp>
      <p:grpSp>
        <p:nvGrpSpPr>
          <p:cNvPr name="Group 41" id="41"/>
          <p:cNvGrpSpPr/>
          <p:nvPr/>
        </p:nvGrpSpPr>
        <p:grpSpPr>
          <a:xfrm rot="0">
            <a:off x="1810512" y="2427732"/>
            <a:ext cx="6172200" cy="493776"/>
            <a:chOff x="0" y="0"/>
            <a:chExt cx="8229600" cy="6583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29600" cy="658368"/>
            </a:xfrm>
            <a:custGeom>
              <a:avLst/>
              <a:gdLst/>
              <a:ahLst/>
              <a:cxnLst/>
              <a:rect r="r" b="b" t="t" l="l"/>
              <a:pathLst>
                <a:path h="65836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28575"/>
              <a:ext cx="82296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SOURCES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1054" y="619030"/>
            <a:ext cx="572452" cy="572452"/>
            <a:chOff x="0" y="0"/>
            <a:chExt cx="763270" cy="763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3270" cy="763270"/>
            </a:xfrm>
            <a:custGeom>
              <a:avLst/>
              <a:gdLst/>
              <a:ahLst/>
              <a:cxnLst/>
              <a:rect r="r" b="b" t="t" l="l"/>
              <a:pathLst>
                <a:path h="763270" w="763270">
                  <a:moveTo>
                    <a:pt x="0" y="381635"/>
                  </a:moveTo>
                  <a:cubicBezTo>
                    <a:pt x="0" y="170815"/>
                    <a:pt x="170815" y="0"/>
                    <a:pt x="381635" y="0"/>
                  </a:cubicBezTo>
                  <a:cubicBezTo>
                    <a:pt x="592455" y="0"/>
                    <a:pt x="763270" y="170815"/>
                    <a:pt x="763270" y="381635"/>
                  </a:cubicBezTo>
                  <a:cubicBezTo>
                    <a:pt x="763270" y="592455"/>
                    <a:pt x="592455" y="763270"/>
                    <a:pt x="381635" y="763270"/>
                  </a:cubicBezTo>
                  <a:cubicBezTo>
                    <a:pt x="170815" y="763270"/>
                    <a:pt x="0" y="592455"/>
                    <a:pt x="0" y="381635"/>
                  </a:cubicBezTo>
                  <a:close/>
                </a:path>
              </a:pathLst>
            </a:custGeom>
            <a:solidFill>
              <a:srgbClr val="781F19"/>
            </a:solidFill>
            <a:ln w="23812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630936"/>
            <a:ext cx="548640" cy="548640"/>
            <a:chOff x="0" y="0"/>
            <a:chExt cx="73152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7315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577340" y="603504"/>
            <a:ext cx="8229600" cy="356616"/>
            <a:chOff x="0" y="0"/>
            <a:chExt cx="10972800" cy="475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972800" cy="475488"/>
            </a:xfrm>
            <a:custGeom>
              <a:avLst/>
              <a:gdLst/>
              <a:ahLst/>
              <a:cxnLst/>
              <a:rect r="r" b="b" t="t" l="l"/>
              <a:pathLst>
                <a:path h="475488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654" r="0" b="-399654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972800" cy="5135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b="true" sz="1875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SECTION 08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4956035" y="1179576"/>
            <a:ext cx="8192479" cy="8233647"/>
          </a:xfrm>
          <a:custGeom>
            <a:avLst/>
            <a:gdLst/>
            <a:ahLst/>
            <a:cxnLst/>
            <a:rect r="r" b="b" t="t" l="l"/>
            <a:pathLst>
              <a:path h="8233647" w="8192479">
                <a:moveTo>
                  <a:pt x="0" y="0"/>
                </a:moveTo>
                <a:lnTo>
                  <a:pt x="8192479" y="0"/>
                </a:lnTo>
                <a:lnTo>
                  <a:pt x="8192479" y="8233647"/>
                </a:lnTo>
                <a:lnTo>
                  <a:pt x="0" y="82336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577340" y="932688"/>
            <a:ext cx="14264640" cy="822960"/>
            <a:chOff x="0" y="0"/>
            <a:chExt cx="1901952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0195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740" r="0" b="-28774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901952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b="true" sz="4200">
                  <a:solidFill>
                    <a:srgbClr val="1E276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Solution Summary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6458628" y="424624"/>
            <a:ext cx="1016127" cy="1016127"/>
            <a:chOff x="0" y="0"/>
            <a:chExt cx="1354836" cy="13548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4836" cy="1354836"/>
            </a:xfrm>
            <a:custGeom>
              <a:avLst/>
              <a:gdLst/>
              <a:ahLst/>
              <a:cxnLst/>
              <a:rect r="r" b="b" t="t" l="l"/>
              <a:pathLst>
                <a:path h="1354836" w="1354836">
                  <a:moveTo>
                    <a:pt x="0" y="677418"/>
                  </a:moveTo>
                  <a:cubicBezTo>
                    <a:pt x="0" y="303276"/>
                    <a:pt x="303276" y="0"/>
                    <a:pt x="677418" y="0"/>
                  </a:cubicBezTo>
                  <a:cubicBezTo>
                    <a:pt x="1051560" y="0"/>
                    <a:pt x="1354836" y="303276"/>
                    <a:pt x="1354836" y="677418"/>
                  </a:cubicBezTo>
                  <a:cubicBezTo>
                    <a:pt x="1354836" y="1051560"/>
                    <a:pt x="1051560" y="1354836"/>
                    <a:pt x="677418" y="1354836"/>
                  </a:cubicBezTo>
                  <a:cubicBezTo>
                    <a:pt x="303276" y="1354836"/>
                    <a:pt x="0" y="1051560"/>
                    <a:pt x="0" y="677418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D6A64F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6596360" y="562356"/>
            <a:ext cx="740664" cy="740664"/>
            <a:chOff x="0" y="0"/>
            <a:chExt cx="987552" cy="987552"/>
          </a:xfrm>
        </p:grpSpPr>
        <p:sp>
          <p:nvSpPr>
            <p:cNvPr name="Freeform 17" id="17" descr="/home/claude/work/iitm_bs_logo.png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0"/>
                  </a:moveTo>
                  <a:lnTo>
                    <a:pt x="987552" y="0"/>
                  </a:lnTo>
                  <a:lnTo>
                    <a:pt x="987552" y="987552"/>
                  </a:lnTo>
                  <a:lnTo>
                    <a:pt x="0" y="987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13435" y="2116455"/>
            <a:ext cx="7562850" cy="7219950"/>
            <a:chOff x="0" y="0"/>
            <a:chExt cx="10083800" cy="9626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83800" cy="9626600"/>
            </a:xfrm>
            <a:custGeom>
              <a:avLst/>
              <a:gdLst/>
              <a:ahLst/>
              <a:cxnLst/>
              <a:rect r="r" b="b" t="t" l="l"/>
              <a:pathLst>
                <a:path h="9626600" w="10083800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9918827" y="0"/>
                  </a:lnTo>
                  <a:cubicBezTo>
                    <a:pt x="10009886" y="0"/>
                    <a:pt x="10083800" y="73914"/>
                    <a:pt x="10083800" y="164973"/>
                  </a:cubicBezTo>
                  <a:lnTo>
                    <a:pt x="10083800" y="9461627"/>
                  </a:lnTo>
                  <a:cubicBezTo>
                    <a:pt x="10083800" y="9552813"/>
                    <a:pt x="10009886" y="9626600"/>
                    <a:pt x="9918827" y="9626600"/>
                  </a:cubicBezTo>
                  <a:lnTo>
                    <a:pt x="164973" y="9626600"/>
                  </a:lnTo>
                  <a:cubicBezTo>
                    <a:pt x="73914" y="9626600"/>
                    <a:pt x="0" y="9552686"/>
                    <a:pt x="0" y="9461627"/>
                  </a:cubicBezTo>
                  <a:close/>
                </a:path>
              </a:pathLst>
            </a:custGeom>
            <a:solidFill>
              <a:srgbClr val="FBF7EA"/>
            </a:solidFill>
            <a:ln w="19050" cap="sq">
              <a:solidFill>
                <a:srgbClr val="E9DFC0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52144" y="2427732"/>
            <a:ext cx="493776" cy="493776"/>
            <a:chOff x="0" y="0"/>
            <a:chExt cx="658368" cy="6583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cubicBezTo>
                    <a:pt x="511048" y="0"/>
                    <a:pt x="658368" y="147320"/>
                    <a:pt x="658368" y="329184"/>
                  </a:cubicBezTo>
                  <a:cubicBezTo>
                    <a:pt x="658368" y="511048"/>
                    <a:pt x="511048" y="658368"/>
                    <a:pt x="329184" y="658368"/>
                  </a:cubicBez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D6A64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52144" y="2427732"/>
            <a:ext cx="493776" cy="493776"/>
            <a:chOff x="0" y="0"/>
            <a:chExt cx="658368" cy="65836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58368" cy="658368"/>
            </a:xfrm>
            <a:custGeom>
              <a:avLst/>
              <a:gdLst/>
              <a:ahLst/>
              <a:cxnLst/>
              <a:rect r="r" b="b" t="t" l="l"/>
              <a:pathLst>
                <a:path h="658368" w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658368" cy="7155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b="true" sz="2250">
                  <a:solidFill>
                    <a:srgbClr val="1217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9660">
            <a:off x="1197473" y="3136202"/>
            <a:ext cx="6794783" cy="0"/>
          </a:xfrm>
          <a:prstGeom prst="line">
            <a:avLst/>
          </a:prstGeom>
          <a:ln cap="rnd" w="9525">
            <a:solidFill>
              <a:srgbClr val="E9DFC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9454515" y="2116455"/>
            <a:ext cx="7837170" cy="7219950"/>
            <a:chOff x="0" y="0"/>
            <a:chExt cx="10449560" cy="9626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449560" cy="9626600"/>
            </a:xfrm>
            <a:custGeom>
              <a:avLst/>
              <a:gdLst/>
              <a:ahLst/>
              <a:cxnLst/>
              <a:rect r="r" b="b" t="t" l="l"/>
              <a:pathLst>
                <a:path h="9626600" w="10449560">
                  <a:moveTo>
                    <a:pt x="0" y="164973"/>
                  </a:moveTo>
                  <a:cubicBezTo>
                    <a:pt x="0" y="73914"/>
                    <a:pt x="73914" y="0"/>
                    <a:pt x="164973" y="0"/>
                  </a:cubicBezTo>
                  <a:lnTo>
                    <a:pt x="10284587" y="0"/>
                  </a:lnTo>
                  <a:cubicBezTo>
                    <a:pt x="10375773" y="0"/>
                    <a:pt x="10449560" y="73914"/>
                    <a:pt x="10449560" y="164973"/>
                  </a:cubicBezTo>
                  <a:lnTo>
                    <a:pt x="10449560" y="9461627"/>
                  </a:lnTo>
                  <a:cubicBezTo>
                    <a:pt x="10449560" y="9552813"/>
                    <a:pt x="10375646" y="9626600"/>
                    <a:pt x="10284587" y="9626600"/>
                  </a:cubicBezTo>
                  <a:lnTo>
                    <a:pt x="164973" y="9626600"/>
                  </a:lnTo>
                  <a:cubicBezTo>
                    <a:pt x="73914" y="9626600"/>
                    <a:pt x="0" y="9552686"/>
                    <a:pt x="0" y="9461627"/>
                  </a:cubicBezTo>
                  <a:close/>
                </a:path>
              </a:pathLst>
            </a:custGeom>
            <a:solidFill>
              <a:srgbClr val="F5F6FA"/>
            </a:solidFill>
            <a:ln w="19050" cap="sq">
              <a:solidFill>
                <a:srgbClr val="E7E9F0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464040" y="2125980"/>
            <a:ext cx="7818120" cy="548640"/>
            <a:chOff x="0" y="0"/>
            <a:chExt cx="1042416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2416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2416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0259568" y="0"/>
                  </a:lnTo>
                  <a:cubicBezTo>
                    <a:pt x="10350500" y="0"/>
                    <a:pt x="10424160" y="73660"/>
                    <a:pt x="10424160" y="164592"/>
                  </a:cubicBezTo>
                  <a:lnTo>
                    <a:pt x="10424160" y="566928"/>
                  </a:lnTo>
                  <a:cubicBezTo>
                    <a:pt x="10424160" y="657860"/>
                    <a:pt x="10350500" y="731520"/>
                    <a:pt x="10259568" y="731520"/>
                  </a:cubicBezTo>
                  <a:lnTo>
                    <a:pt x="164592" y="731520"/>
                  </a:lnTo>
                  <a:cubicBezTo>
                    <a:pt x="73660" y="731520"/>
                    <a:pt x="0" y="657860"/>
                    <a:pt x="0" y="566928"/>
                  </a:cubicBez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464040" y="2400300"/>
            <a:ext cx="7818120" cy="274320"/>
            <a:chOff x="0" y="0"/>
            <a:chExt cx="10424160" cy="3657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424160" cy="365760"/>
            </a:xfrm>
            <a:custGeom>
              <a:avLst/>
              <a:gdLst/>
              <a:ahLst/>
              <a:cxnLst/>
              <a:rect r="r" b="b" t="t" l="l"/>
              <a:pathLst>
                <a:path h="365760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365760"/>
                  </a:lnTo>
                  <a:lnTo>
                    <a:pt x="0" y="365760"/>
                  </a:lnTo>
                  <a:close/>
                </a:path>
              </a:pathLst>
            </a:custGeom>
            <a:solidFill>
              <a:srgbClr val="1E2761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793224" y="2125980"/>
            <a:ext cx="2743200" cy="548640"/>
            <a:chOff x="0" y="0"/>
            <a:chExt cx="3657600" cy="73152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657600" cy="731520"/>
            </a:xfrm>
            <a:custGeom>
              <a:avLst/>
              <a:gdLst/>
              <a:ahLst/>
              <a:cxnLst/>
              <a:rect r="r" b="b" t="t" l="l"/>
              <a:pathLst>
                <a:path h="7315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365760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Criterion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536424" y="2125980"/>
            <a:ext cx="4416552" cy="548640"/>
            <a:chOff x="0" y="0"/>
            <a:chExt cx="5888736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888736" cy="731520"/>
            </a:xfrm>
            <a:custGeom>
              <a:avLst/>
              <a:gdLst/>
              <a:ahLst/>
              <a:cxnLst/>
              <a:rect r="r" b="b" t="t" l="l"/>
              <a:pathLst>
                <a:path h="731520" w="5888736">
                  <a:moveTo>
                    <a:pt x="0" y="0"/>
                  </a:moveTo>
                  <a:lnTo>
                    <a:pt x="5888736" y="0"/>
                  </a:lnTo>
                  <a:lnTo>
                    <a:pt x="5888736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854" r="0" b="-10685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5888736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Summary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93224" y="2674620"/>
            <a:ext cx="2743200" cy="1330452"/>
            <a:chOff x="0" y="0"/>
            <a:chExt cx="3657600" cy="17739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657600" cy="1773936"/>
            </a:xfrm>
            <a:custGeom>
              <a:avLst/>
              <a:gdLst/>
              <a:ahLst/>
              <a:cxnLst/>
              <a:rect r="r" b="b" t="t" l="l"/>
              <a:pathLst>
                <a:path h="177393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773936"/>
                  </a:lnTo>
                  <a:lnTo>
                    <a:pt x="0" y="1773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227" t="0" r="-12227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657600" cy="1812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Problem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536424" y="2787500"/>
            <a:ext cx="4416552" cy="1330452"/>
            <a:chOff x="0" y="0"/>
            <a:chExt cx="5888736" cy="17739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888736" cy="1773936"/>
            </a:xfrm>
            <a:custGeom>
              <a:avLst/>
              <a:gdLst/>
              <a:ahLst/>
              <a:cxnLst/>
              <a:rect r="r" b="b" t="t" l="l"/>
              <a:pathLst>
                <a:path h="1773936" w="5888736">
                  <a:moveTo>
                    <a:pt x="0" y="0"/>
                  </a:moveTo>
                  <a:lnTo>
                    <a:pt x="5888736" y="0"/>
                  </a:lnTo>
                  <a:lnTo>
                    <a:pt x="5888736" y="1773936"/>
                  </a:lnTo>
                  <a:lnTo>
                    <a:pt x="0" y="1773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82" r="0" b="-1468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888736" cy="1812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Lun</a:t>
              </a:r>
              <a:r>
                <a:rPr lang="en-US" sz="1800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ar features look different across sensors/illumination, so cross-instrument registration of Chandrayaan-2 + LROC imagery stays unreliable.</a:t>
              </a:r>
            </a:p>
          </p:txBody>
        </p:sp>
      </p:grpSp>
      <p:sp>
        <p:nvSpPr>
          <p:cNvPr name="AutoShape 44" id="44"/>
          <p:cNvSpPr/>
          <p:nvPr/>
        </p:nvSpPr>
        <p:spPr>
          <a:xfrm rot="8340">
            <a:off x="9454505" y="4000310"/>
            <a:ext cx="7837189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5" id="45"/>
          <p:cNvGrpSpPr/>
          <p:nvPr/>
        </p:nvGrpSpPr>
        <p:grpSpPr>
          <a:xfrm rot="0">
            <a:off x="9464040" y="4005072"/>
            <a:ext cx="7818120" cy="1330452"/>
            <a:chOff x="0" y="0"/>
            <a:chExt cx="10424160" cy="17739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424160" cy="1773936"/>
            </a:xfrm>
            <a:custGeom>
              <a:avLst/>
              <a:gdLst/>
              <a:ahLst/>
              <a:cxnLst/>
              <a:rect r="r" b="b" t="t" l="l"/>
              <a:pathLst>
                <a:path h="1773936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773936"/>
                  </a:lnTo>
                  <a:lnTo>
                    <a:pt x="0" y="177393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793224" y="4005072"/>
            <a:ext cx="2743200" cy="1330452"/>
            <a:chOff x="0" y="0"/>
            <a:chExt cx="3657600" cy="177393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57600" cy="1773936"/>
            </a:xfrm>
            <a:custGeom>
              <a:avLst/>
              <a:gdLst/>
              <a:ahLst/>
              <a:cxnLst/>
              <a:rect r="r" b="b" t="t" l="l"/>
              <a:pathLst>
                <a:path h="177393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773936"/>
                  </a:lnTo>
                  <a:lnTo>
                    <a:pt x="0" y="1773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227" t="0" r="-12227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657600" cy="1812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536424" y="4005072"/>
            <a:ext cx="4416552" cy="1330452"/>
            <a:chOff x="0" y="0"/>
            <a:chExt cx="5888736" cy="177393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888736" cy="1773936"/>
            </a:xfrm>
            <a:custGeom>
              <a:avLst/>
              <a:gdLst/>
              <a:ahLst/>
              <a:cxnLst/>
              <a:rect r="r" b="b" t="t" l="l"/>
              <a:pathLst>
                <a:path h="1773936" w="5888736">
                  <a:moveTo>
                    <a:pt x="0" y="0"/>
                  </a:moveTo>
                  <a:lnTo>
                    <a:pt x="5888736" y="0"/>
                  </a:lnTo>
                  <a:lnTo>
                    <a:pt x="5888736" y="1773936"/>
                  </a:lnTo>
                  <a:lnTo>
                    <a:pt x="0" y="1773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82" r="0" b="-14682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888736" cy="1812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</a:t>
              </a:r>
              <a:r>
                <a:rPr lang="en-US" sz="1800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physics-guided pipeline that predicts terrain-feature stability first, then matches, verifies, and refines with propagated uncertainty.</a:t>
              </a:r>
            </a:p>
          </p:txBody>
        </p:sp>
      </p:grpSp>
      <p:sp>
        <p:nvSpPr>
          <p:cNvPr name="AutoShape 53" id="53"/>
          <p:cNvSpPr/>
          <p:nvPr/>
        </p:nvSpPr>
        <p:spPr>
          <a:xfrm rot="8340">
            <a:off x="9454505" y="5330762"/>
            <a:ext cx="7837189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9793224" y="5335524"/>
            <a:ext cx="2743200" cy="1330452"/>
            <a:chOff x="0" y="0"/>
            <a:chExt cx="3657600" cy="17739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657600" cy="1773936"/>
            </a:xfrm>
            <a:custGeom>
              <a:avLst/>
              <a:gdLst/>
              <a:ahLst/>
              <a:cxnLst/>
              <a:rect r="r" b="b" t="t" l="l"/>
              <a:pathLst>
                <a:path h="177393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773936"/>
                  </a:lnTo>
                  <a:lnTo>
                    <a:pt x="0" y="1773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227" t="0" r="-12227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657600" cy="1812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Novelty / USP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2536424" y="5335524"/>
            <a:ext cx="4416552" cy="1330452"/>
            <a:chOff x="0" y="0"/>
            <a:chExt cx="5888736" cy="177393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888736" cy="1773936"/>
            </a:xfrm>
            <a:custGeom>
              <a:avLst/>
              <a:gdLst/>
              <a:ahLst/>
              <a:cxnLst/>
              <a:rect r="r" b="b" t="t" l="l"/>
              <a:pathLst>
                <a:path h="1773936" w="5888736">
                  <a:moveTo>
                    <a:pt x="0" y="0"/>
                  </a:moveTo>
                  <a:lnTo>
                    <a:pt x="5888736" y="0"/>
                  </a:lnTo>
                  <a:lnTo>
                    <a:pt x="5888736" y="1773936"/>
                  </a:lnTo>
                  <a:lnTo>
                    <a:pt x="0" y="1773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82" r="0" b="-14682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5888736" cy="1812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Correspond</a:t>
              </a:r>
              <a:r>
                <a:rPr lang="en-US" sz="1800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ence stability as a learnable, physics-conditioned quantity — not another descriptor or matcher.</a:t>
              </a:r>
            </a:p>
          </p:txBody>
        </p:sp>
      </p:grpSp>
      <p:sp>
        <p:nvSpPr>
          <p:cNvPr name="AutoShape 60" id="60"/>
          <p:cNvSpPr/>
          <p:nvPr/>
        </p:nvSpPr>
        <p:spPr>
          <a:xfrm rot="8340">
            <a:off x="9454505" y="6661214"/>
            <a:ext cx="7837189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9464040" y="6665976"/>
            <a:ext cx="7818120" cy="1330452"/>
            <a:chOff x="0" y="0"/>
            <a:chExt cx="10424160" cy="177393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424160" cy="1773936"/>
            </a:xfrm>
            <a:custGeom>
              <a:avLst/>
              <a:gdLst/>
              <a:ahLst/>
              <a:cxnLst/>
              <a:rect r="r" b="b" t="t" l="l"/>
              <a:pathLst>
                <a:path h="1773936" w="10424160">
                  <a:moveTo>
                    <a:pt x="0" y="0"/>
                  </a:moveTo>
                  <a:lnTo>
                    <a:pt x="10424160" y="0"/>
                  </a:lnTo>
                  <a:lnTo>
                    <a:pt x="10424160" y="1773936"/>
                  </a:lnTo>
                  <a:lnTo>
                    <a:pt x="0" y="1773936"/>
                  </a:lnTo>
                  <a:close/>
                </a:path>
              </a:pathLst>
            </a:custGeom>
            <a:solidFill>
              <a:srgbClr val="F5F6FA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793224" y="6665976"/>
            <a:ext cx="2743200" cy="1330452"/>
            <a:chOff x="0" y="0"/>
            <a:chExt cx="3657600" cy="177393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57600" cy="1773936"/>
            </a:xfrm>
            <a:custGeom>
              <a:avLst/>
              <a:gdLst/>
              <a:ahLst/>
              <a:cxnLst/>
              <a:rect r="r" b="b" t="t" l="l"/>
              <a:pathLst>
                <a:path h="177393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773936"/>
                  </a:lnTo>
                  <a:lnTo>
                    <a:pt x="0" y="1773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227" t="0" r="-12227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38100"/>
              <a:ext cx="3657600" cy="1812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Feasibility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2536424" y="6665976"/>
            <a:ext cx="4416552" cy="1330452"/>
            <a:chOff x="0" y="0"/>
            <a:chExt cx="5888736" cy="177393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888736" cy="1773936"/>
            </a:xfrm>
            <a:custGeom>
              <a:avLst/>
              <a:gdLst/>
              <a:ahLst/>
              <a:cxnLst/>
              <a:rect r="r" b="b" t="t" l="l"/>
              <a:pathLst>
                <a:path h="1773936" w="5888736">
                  <a:moveTo>
                    <a:pt x="0" y="0"/>
                  </a:moveTo>
                  <a:lnTo>
                    <a:pt x="5888736" y="0"/>
                  </a:lnTo>
                  <a:lnTo>
                    <a:pt x="5888736" y="1773936"/>
                  </a:lnTo>
                  <a:lnTo>
                    <a:pt x="0" y="1773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82" r="0" b="-14682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38100"/>
              <a:ext cx="5888736" cy="1812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</a:t>
              </a:r>
              <a:r>
                <a:rPr lang="en-US" sz="1800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odular, staged build on public PDS4/PRADAN and LROC data, with classical baselines usable from day one.</a:t>
              </a:r>
            </a:p>
          </p:txBody>
        </p:sp>
      </p:grpSp>
      <p:sp>
        <p:nvSpPr>
          <p:cNvPr name="AutoShape 69" id="69"/>
          <p:cNvSpPr/>
          <p:nvPr/>
        </p:nvSpPr>
        <p:spPr>
          <a:xfrm rot="8340">
            <a:off x="9454505" y="7991666"/>
            <a:ext cx="7837189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0" id="70"/>
          <p:cNvGrpSpPr/>
          <p:nvPr/>
        </p:nvGrpSpPr>
        <p:grpSpPr>
          <a:xfrm rot="0">
            <a:off x="9793224" y="7996428"/>
            <a:ext cx="2743200" cy="1330452"/>
            <a:chOff x="0" y="0"/>
            <a:chExt cx="3657600" cy="17739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657600" cy="1773936"/>
            </a:xfrm>
            <a:custGeom>
              <a:avLst/>
              <a:gdLst/>
              <a:ahLst/>
              <a:cxnLst/>
              <a:rect r="r" b="b" t="t" l="l"/>
              <a:pathLst>
                <a:path h="1773936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773936"/>
                  </a:lnTo>
                  <a:lnTo>
                    <a:pt x="0" y="1773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2227" t="0" r="-12227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657600" cy="1812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Impact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536424" y="7977396"/>
            <a:ext cx="4416552" cy="1330452"/>
            <a:chOff x="0" y="0"/>
            <a:chExt cx="5888736" cy="17739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88736" cy="1773936"/>
            </a:xfrm>
            <a:custGeom>
              <a:avLst/>
              <a:gdLst/>
              <a:ahLst/>
              <a:cxnLst/>
              <a:rect r="r" b="b" t="t" l="l"/>
              <a:pathLst>
                <a:path h="1773936" w="5888736">
                  <a:moveTo>
                    <a:pt x="0" y="0"/>
                  </a:moveTo>
                  <a:lnTo>
                    <a:pt x="5888736" y="0"/>
                  </a:lnTo>
                  <a:lnTo>
                    <a:pt x="5888736" y="1773936"/>
                  </a:lnTo>
                  <a:lnTo>
                    <a:pt x="0" y="1773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682" r="0" b="-1468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5888736" cy="18120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ISRO mission teams gain a reusable registration engine plus a</a:t>
              </a:r>
              <a:r>
                <a:rPr lang="en-US" sz="1800" i="true">
                  <a:solidFill>
                    <a:srgbClr val="666B74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 reproducible benchmark for future lunar missions.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3345668" y="9779508"/>
            <a:ext cx="4114800" cy="411480"/>
            <a:chOff x="0" y="0"/>
            <a:chExt cx="5486400" cy="5486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Section 08 of 08</a:t>
              </a:r>
            </a:p>
          </p:txBody>
        </p:sp>
      </p:grpSp>
      <p:sp>
        <p:nvSpPr>
          <p:cNvPr name="AutoShape 79" id="79"/>
          <p:cNvSpPr/>
          <p:nvPr/>
        </p:nvSpPr>
        <p:spPr>
          <a:xfrm rot="3960">
            <a:off x="813425" y="9706166"/>
            <a:ext cx="16656568" cy="0"/>
          </a:xfrm>
          <a:prstGeom prst="line">
            <a:avLst/>
          </a:prstGeom>
          <a:ln cap="rnd" w="9525">
            <a:solidFill>
              <a:srgbClr val="E7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0" id="80"/>
          <p:cNvGrpSpPr/>
          <p:nvPr/>
        </p:nvGrpSpPr>
        <p:grpSpPr>
          <a:xfrm rot="0">
            <a:off x="822960" y="9779508"/>
            <a:ext cx="13030200" cy="411480"/>
            <a:chOff x="0" y="0"/>
            <a:chExt cx="17373600" cy="5486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7373600" cy="548640"/>
            </a:xfrm>
            <a:custGeom>
              <a:avLst/>
              <a:gdLst/>
              <a:ahLst/>
              <a:cxnLst/>
              <a:rect r="r" b="b" t="t" l="l"/>
              <a:pathLst>
                <a:path h="548640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67026" r="0" b="-56702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173736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IITM BS Degree Programme</a:t>
              </a:r>
              <a:r>
                <a:rPr lang="en-US" sz="1350">
                  <a:solidFill>
                    <a:srgbClr val="666B7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- Alibaba and 6 devs</a:t>
              </a:r>
            </a:p>
          </p:txBody>
        </p:sp>
      </p:grpSp>
      <p:sp>
        <p:nvSpPr>
          <p:cNvPr name="TextBox 83" id="83"/>
          <p:cNvSpPr txBox="true"/>
          <p:nvPr/>
        </p:nvSpPr>
        <p:spPr>
          <a:xfrm rot="0">
            <a:off x="1197487" y="3198175"/>
            <a:ext cx="6592853" cy="6107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328" indent="-169664" lvl="1">
              <a:lnSpc>
                <a:spcPts val="3060"/>
              </a:lnSpc>
              <a:buFont typeface="Arial"/>
              <a:buChar char="•"/>
            </a:pPr>
            <a:r>
              <a:rPr lang="en-US" b="true" sz="1875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Core Hypothesis: </a:t>
            </a:r>
            <a:r>
              <a:rPr lang="en-US" sz="1875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Correspondence reliability must be learned from physical acquisition geometry, overcoming the severe limitations of raw image appearance. </a:t>
            </a:r>
          </a:p>
          <a:p>
            <a:pPr algn="l">
              <a:lnSpc>
                <a:spcPts val="3060"/>
              </a:lnSpc>
            </a:pPr>
          </a:p>
          <a:p>
            <a:pPr algn="l" marL="339328" indent="-169664" lvl="1">
              <a:lnSpc>
                <a:spcPts val="3060"/>
              </a:lnSpc>
              <a:buFont typeface="Arial"/>
              <a:buChar char="•"/>
            </a:pPr>
            <a:r>
              <a:rPr lang="en-US" b="true" sz="1875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Architecture:</a:t>
            </a:r>
            <a:r>
              <a:rPr lang="en-US" sz="1875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 A complete pipeline integrating physics-guided stability estimation, cross-modal terrain encoding, and sub-pixel geometric refinement. </a:t>
            </a:r>
          </a:p>
          <a:p>
            <a:pPr algn="l">
              <a:lnSpc>
                <a:spcPts val="3060"/>
              </a:lnSpc>
            </a:pPr>
          </a:p>
          <a:p>
            <a:pPr algn="l" marL="339328" indent="-169664" lvl="1">
              <a:lnSpc>
                <a:spcPts val="3060"/>
              </a:lnSpc>
              <a:buFont typeface="Arial"/>
              <a:buChar char="•"/>
            </a:pPr>
            <a:r>
              <a:rPr lang="en-US" b="true" sz="1875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Validation:</a:t>
            </a:r>
            <a:r>
              <a:rPr lang="en-US" sz="1875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 Rigorously evaluated against classical and deep-learning baselines using our standardized Lunar-MatchBench dataset. </a:t>
            </a:r>
          </a:p>
          <a:p>
            <a:pPr algn="l">
              <a:lnSpc>
                <a:spcPts val="3060"/>
              </a:lnSpc>
            </a:pPr>
          </a:p>
          <a:p>
            <a:pPr algn="l" marL="339328" indent="-169664" lvl="1">
              <a:lnSpc>
                <a:spcPts val="3060"/>
              </a:lnSpc>
              <a:buFont typeface="Arial"/>
              <a:buChar char="•"/>
            </a:pPr>
            <a:r>
              <a:rPr lang="en-US" b="true" sz="1875">
                <a:solidFill>
                  <a:srgbClr val="4A4A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Deliverable:</a:t>
            </a:r>
            <a:r>
              <a:rPr lang="en-US" sz="1875">
                <a:solidFill>
                  <a:srgbClr val="4A4A4A"/>
                </a:solidFill>
                <a:latin typeface="Calibri (MS)"/>
                <a:ea typeface="Calibri (MS)"/>
                <a:cs typeface="Calibri (MS)"/>
                <a:sym typeface="Calibri (MS)"/>
              </a:rPr>
              <a:t> A production-ready registration engine that explicitly reports uncertainty, ensuring absolute scientific trust for downstream mission applications.</a:t>
            </a:r>
          </a:p>
          <a:p>
            <a:pPr algn="l">
              <a:lnSpc>
                <a:spcPts val="3060"/>
              </a:lnSpc>
            </a:pPr>
          </a:p>
        </p:txBody>
      </p:sp>
      <p:grpSp>
        <p:nvGrpSpPr>
          <p:cNvPr name="Group 84" id="84"/>
          <p:cNvGrpSpPr/>
          <p:nvPr/>
        </p:nvGrpSpPr>
        <p:grpSpPr>
          <a:xfrm rot="0">
            <a:off x="1810512" y="2427732"/>
            <a:ext cx="6172200" cy="493776"/>
            <a:chOff x="0" y="0"/>
            <a:chExt cx="8229600" cy="65836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229600" cy="658368"/>
            </a:xfrm>
            <a:custGeom>
              <a:avLst/>
              <a:gdLst/>
              <a:ahLst/>
              <a:cxnLst/>
              <a:rect r="r" b="b" t="t" l="l"/>
              <a:pathLst>
                <a:path h="65836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3562" r="0" b="-19356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28575"/>
              <a:ext cx="8229600" cy="6869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781F1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AT A GLANCE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DAHTZF1r1Nk</dc:identifier>
  <dcterms:modified xsi:type="dcterms:W3CDTF">2011-08-01T06:04:30Z</dcterms:modified>
  <cp:revision>1</cp:revision>
  <dc:title>SIH26166-AlibabaAnd6Devs-round3-internal.pptx</dc:title>
</cp:coreProperties>
</file>